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x="18288000" cy="10287000"/>
  <p:notesSz cx="6858000" cy="9144000"/>
  <p:embeddedFontLst>
    <p:embeddedFont>
      <p:font typeface="Helvetica World Bold" charset="1" panose="020B0800040000020004"/>
      <p:regular r:id="rId19"/>
    </p:embeddedFont>
    <p:embeddedFont>
      <p:font typeface="Helvetica World" charset="1" panose="020B0500040000020004"/>
      <p:regular r:id="rId20"/>
    </p:embeddedFont>
    <p:embeddedFont>
      <p:font typeface="Canva Sans Bold" charset="1" panose="020B0803030501040103"/>
      <p:regular r:id="rId21"/>
    </p:embeddedFont>
    <p:embeddedFont>
      <p:font typeface="Canva Sans" charset="1" panose="020B0503030501040103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fonts/font22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6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Relationship Id="rId5" Target="../media/image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11146422" y="1127274"/>
            <a:ext cx="5893203" cy="1999859"/>
            <a:chOff x="0" y="0"/>
            <a:chExt cx="7857604" cy="2666479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7857617" cy="2666492"/>
            </a:xfrm>
            <a:custGeom>
              <a:avLst/>
              <a:gdLst/>
              <a:ahLst/>
              <a:cxnLst/>
              <a:rect r="r" b="b" t="t" l="l"/>
              <a:pathLst>
                <a:path h="2666492" w="7857617">
                  <a:moveTo>
                    <a:pt x="0" y="0"/>
                  </a:moveTo>
                  <a:lnTo>
                    <a:pt x="7857617" y="0"/>
                  </a:lnTo>
                  <a:lnTo>
                    <a:pt x="7857617" y="2666492"/>
                  </a:lnTo>
                  <a:lnTo>
                    <a:pt x="0" y="26664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8935" t="-264896" r="-89066" b="-265418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65625" y="3585694"/>
            <a:ext cx="15774000" cy="2364655"/>
            <a:chOff x="0" y="0"/>
            <a:chExt cx="21032000" cy="3152873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2000" cy="3152873"/>
            </a:xfrm>
            <a:custGeom>
              <a:avLst/>
              <a:gdLst/>
              <a:ahLst/>
              <a:cxnLst/>
              <a:rect r="r" b="b" t="t" l="l"/>
              <a:pathLst>
                <a:path h="3152873" w="21032000">
                  <a:moveTo>
                    <a:pt x="0" y="0"/>
                  </a:moveTo>
                  <a:lnTo>
                    <a:pt x="21032000" y="0"/>
                  </a:lnTo>
                  <a:lnTo>
                    <a:pt x="21032000" y="3152873"/>
                  </a:lnTo>
                  <a:lnTo>
                    <a:pt x="0" y="31528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101380" r="0" b="-5857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76200"/>
              <a:ext cx="21032000" cy="3076673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7128"/>
                </a:lnSpc>
              </a:pPr>
              <a:r>
                <a:rPr lang="en-US" sz="66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GROUP 2: CLIMATE</a:t>
              </a:r>
            </a:p>
            <a:p>
              <a:pPr algn="l">
                <a:lnSpc>
                  <a:spcPts val="5076"/>
                </a:lnSpc>
              </a:pPr>
              <a:r>
                <a:rPr lang="en-US" sz="47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Probabilistic Forecasting of Extreme Weather Events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265625" y="6798191"/>
            <a:ext cx="5737047" cy="1905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41"/>
              </a:lnSpc>
            </a:pPr>
            <a:r>
              <a:rPr lang="en-US" sz="253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Shlok Shah</a:t>
            </a:r>
          </a:p>
          <a:p>
            <a:pPr algn="l">
              <a:lnSpc>
                <a:spcPts val="3041"/>
              </a:lnSpc>
            </a:pPr>
            <a:r>
              <a:rPr lang="en-US" sz="253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Abhi Jain</a:t>
            </a:r>
          </a:p>
          <a:p>
            <a:pPr algn="l">
              <a:lnSpc>
                <a:spcPts val="3041"/>
              </a:lnSpc>
            </a:pPr>
            <a:r>
              <a:rPr lang="en-US" sz="253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Dhruti Kobawala</a:t>
            </a:r>
          </a:p>
          <a:p>
            <a:pPr algn="l">
              <a:lnSpc>
                <a:spcPts val="3041"/>
              </a:lnSpc>
            </a:pPr>
            <a:r>
              <a:rPr lang="en-US" sz="253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Prarthana Gajera</a:t>
            </a:r>
          </a:p>
          <a:p>
            <a:pPr algn="l">
              <a:lnSpc>
                <a:spcPts val="3041"/>
              </a:lnSpc>
              <a:spcBef>
                <a:spcPct val="0"/>
              </a:spcBef>
            </a:pPr>
            <a:r>
              <a:rPr lang="en-US" sz="2534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Pearl Patel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538220" y="310055"/>
            <a:ext cx="15773400" cy="1437078"/>
            <a:chOff x="0" y="0"/>
            <a:chExt cx="21031200" cy="19161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916104"/>
            </a:xfrm>
            <a:custGeom>
              <a:avLst/>
              <a:gdLst/>
              <a:ahLst/>
              <a:cxnLst/>
              <a:rect r="r" b="b" t="t" l="l"/>
              <a:pathLst>
                <a:path h="1916104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986" r="0" b="-2627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21031200" cy="185895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Project Context and  Motivation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538220" y="1268534"/>
            <a:ext cx="11048332" cy="7282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</a:p>
          <a:p>
            <a:pPr algn="l">
              <a:lnSpc>
                <a:spcPts val="3780"/>
              </a:lnSpc>
            </a:pPr>
            <a:r>
              <a:rPr lang="en-US" b="true" sz="35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Title</a:t>
            </a:r>
            <a:r>
              <a:rPr lang="en-US" sz="35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Probabilistic Modeling of Extreme Weather Events for Risk-Informed Decision Support</a:t>
            </a:r>
          </a:p>
          <a:p>
            <a:pPr algn="l">
              <a:lnSpc>
                <a:spcPts val="3780"/>
              </a:lnSpc>
            </a:pPr>
          </a:p>
          <a:p>
            <a:pPr algn="l">
              <a:lnSpc>
                <a:spcPts val="3780"/>
              </a:lnSpc>
            </a:pPr>
            <a:r>
              <a:rPr lang="en-US" b="true" sz="35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Application Domain</a:t>
            </a:r>
            <a:r>
              <a:rPr lang="en-US" sz="35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Defense operations, infrastructure resilience, and weather risk assessment</a:t>
            </a:r>
          </a:p>
          <a:p>
            <a:pPr algn="l">
              <a:lnSpc>
                <a:spcPts val="3780"/>
              </a:lnSpc>
            </a:pPr>
          </a:p>
          <a:p>
            <a:pPr algn="l">
              <a:lnSpc>
                <a:spcPts val="3780"/>
              </a:lnSpc>
            </a:pPr>
            <a:r>
              <a:rPr lang="en-US" b="true" sz="35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Context</a:t>
            </a:r>
            <a:r>
              <a:rPr lang="en-US" sz="35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Weather forecasts are critical for operational planning and infrastructure protection. </a:t>
            </a:r>
          </a:p>
          <a:p>
            <a:pPr algn="l">
              <a:lnSpc>
                <a:spcPts val="3780"/>
              </a:lnSpc>
            </a:pPr>
          </a:p>
          <a:p>
            <a:pPr algn="l">
              <a:lnSpc>
                <a:spcPts val="3780"/>
              </a:lnSpc>
            </a:pPr>
            <a:r>
              <a:rPr lang="en-US" sz="35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Atmospheric systems are chaotic and highly sensitive to initial conditions and model assumptions, making uncertainty unavoidable—especially for rare and high-impact events.</a:t>
            </a:r>
          </a:p>
          <a:p>
            <a:pPr algn="l">
              <a:lnSpc>
                <a:spcPts val="3780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6204016" y="9427016"/>
            <a:ext cx="826684" cy="566137"/>
            <a:chOff x="0" y="0"/>
            <a:chExt cx="1102246" cy="7548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2242" cy="754852"/>
            </a:xfrm>
            <a:custGeom>
              <a:avLst/>
              <a:gdLst/>
              <a:ahLst/>
              <a:cxnLst/>
              <a:rect r="r" b="b" t="t" l="l"/>
              <a:pathLst>
                <a:path h="754852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102246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887200" y="9427007"/>
            <a:ext cx="4316816" cy="566137"/>
            <a:chOff x="0" y="0"/>
            <a:chExt cx="5755754" cy="7548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755756" cy="754852"/>
            </a:xfrm>
            <a:custGeom>
              <a:avLst/>
              <a:gdLst/>
              <a:ahLst/>
              <a:cxnLst/>
              <a:rect r="r" b="b" t="t" l="l"/>
              <a:pathLst>
                <a:path h="754852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5755754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01/07/19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1729630" y="1986525"/>
            <a:ext cx="6235758" cy="5342118"/>
          </a:xfrm>
          <a:custGeom>
            <a:avLst/>
            <a:gdLst/>
            <a:ahLst/>
            <a:cxnLst/>
            <a:rect r="r" b="b" t="t" l="l"/>
            <a:pathLst>
              <a:path h="5342118" w="6235758">
                <a:moveTo>
                  <a:pt x="0" y="0"/>
                </a:moveTo>
                <a:lnTo>
                  <a:pt x="6235758" y="0"/>
                </a:lnTo>
                <a:lnTo>
                  <a:pt x="6235758" y="5342119"/>
                </a:lnTo>
                <a:lnTo>
                  <a:pt x="0" y="534211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949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12848648" y="7566769"/>
            <a:ext cx="399772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https://www.weather.gov/owp/hdsc_aep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310161"/>
            <a:ext cx="15773400" cy="1437078"/>
            <a:chOff x="0" y="0"/>
            <a:chExt cx="21031200" cy="19161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916104"/>
            </a:xfrm>
            <a:custGeom>
              <a:avLst/>
              <a:gdLst/>
              <a:ahLst/>
              <a:cxnLst/>
              <a:rect r="r" b="b" t="t" l="l"/>
              <a:pathLst>
                <a:path h="1916104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986" r="0" b="-2627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21031200" cy="185895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Project Objective and Scope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84" cy="566137"/>
            <a:chOff x="0" y="0"/>
            <a:chExt cx="1102246" cy="7548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42" cy="754852"/>
            </a:xfrm>
            <a:custGeom>
              <a:avLst/>
              <a:gdLst/>
              <a:ahLst/>
              <a:cxnLst/>
              <a:rect r="r" b="b" t="t" l="l"/>
              <a:pathLst>
                <a:path h="754852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102246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87200" y="9427007"/>
            <a:ext cx="4316816" cy="566137"/>
            <a:chOff x="0" y="0"/>
            <a:chExt cx="5755754" cy="7548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55756" cy="754852"/>
            </a:xfrm>
            <a:custGeom>
              <a:avLst/>
              <a:gdLst/>
              <a:ahLst/>
              <a:cxnLst/>
              <a:rect r="r" b="b" t="t" l="l"/>
              <a:pathLst>
                <a:path h="754852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755754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01/07/19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9722138" y="1747239"/>
            <a:ext cx="7847739" cy="5993711"/>
          </a:xfrm>
          <a:custGeom>
            <a:avLst/>
            <a:gdLst/>
            <a:ahLst/>
            <a:cxnLst/>
            <a:rect r="r" b="b" t="t" l="l"/>
            <a:pathLst>
              <a:path h="5993711" w="7847739">
                <a:moveTo>
                  <a:pt x="0" y="0"/>
                </a:moveTo>
                <a:lnTo>
                  <a:pt x="7847740" y="0"/>
                </a:lnTo>
                <a:lnTo>
                  <a:pt x="7847740" y="5993711"/>
                </a:lnTo>
                <a:lnTo>
                  <a:pt x="0" y="599371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1028700" y="1794864"/>
            <a:ext cx="7547035" cy="6764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500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Objective:</a:t>
            </a:r>
            <a:r>
              <a:rPr lang="en-US" sz="35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To quantify uncertainty in extreme weather events using probabilistic methods.</a:t>
            </a:r>
          </a:p>
          <a:p>
            <a:pPr algn="l">
              <a:lnSpc>
                <a:spcPts val="3780"/>
              </a:lnSpc>
            </a:pPr>
          </a:p>
          <a:p>
            <a:pPr algn="l">
              <a:lnSpc>
                <a:spcPts val="3780"/>
              </a:lnSpc>
            </a:pPr>
            <a:r>
              <a:rPr lang="en-US" sz="3500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Scope:</a:t>
            </a:r>
          </a:p>
          <a:p>
            <a:pPr algn="l" marL="755651" indent="-377825" lvl="1">
              <a:lnSpc>
                <a:spcPts val="378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Use ensemble forecasting to generate multiple plausible weather outcomes</a:t>
            </a:r>
          </a:p>
          <a:p>
            <a:pPr algn="l" marL="755651" indent="-377825" lvl="1">
              <a:lnSpc>
                <a:spcPts val="378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Apply Bayesian inference to estimate event likelihoods</a:t>
            </a:r>
          </a:p>
          <a:p>
            <a:pPr algn="l" marL="755651" indent="-377825" lvl="1">
              <a:lnSpc>
                <a:spcPts val="378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Provide probabilistic risk estimates rather than deterministic predictions</a:t>
            </a:r>
          </a:p>
          <a:p>
            <a:pPr algn="l">
              <a:lnSpc>
                <a:spcPts val="3780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12046747" y="7932935"/>
            <a:ext cx="3997722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0"/>
              </a:lnSpc>
              <a:spcBef>
                <a:spcPct val="0"/>
              </a:spcBef>
            </a:pPr>
            <a:r>
              <a:rPr lang="en-US" sz="18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https://www.weather.gov/owp/hdsc_aep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310161"/>
            <a:ext cx="15773400" cy="1437078"/>
            <a:chOff x="0" y="0"/>
            <a:chExt cx="21031200" cy="19161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916104"/>
            </a:xfrm>
            <a:custGeom>
              <a:avLst/>
              <a:gdLst/>
              <a:ahLst/>
              <a:cxnLst/>
              <a:rect r="r" b="b" t="t" l="l"/>
              <a:pathLst>
                <a:path h="1916104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986" r="0" b="-2627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21031200" cy="185895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Project System Overview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8700" y="2045583"/>
            <a:ext cx="16888701" cy="5809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500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End to End Pipeline:</a:t>
            </a:r>
          </a:p>
          <a:p>
            <a:pPr algn="l" marL="755651" indent="-377825" lvl="1">
              <a:lnSpc>
                <a:spcPts val="378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Generate ensemble weather forecasts</a:t>
            </a:r>
          </a:p>
          <a:p>
            <a:pPr algn="l" marL="755651" indent="-377825" lvl="1">
              <a:lnSpc>
                <a:spcPts val="378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Extract relevant extreme-event indicators</a:t>
            </a:r>
          </a:p>
          <a:p>
            <a:pPr algn="l" marL="755651" indent="-377825" lvl="1">
              <a:lnSpc>
                <a:spcPts val="378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Model uncertainty probabilistically</a:t>
            </a:r>
          </a:p>
          <a:p>
            <a:pPr algn="l" marL="755651" indent="-377825" lvl="1">
              <a:lnSpc>
                <a:spcPts val="378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Apply Bayesian inference for likelihood estimation</a:t>
            </a:r>
          </a:p>
          <a:p>
            <a:pPr algn="l">
              <a:lnSpc>
                <a:spcPts val="3780"/>
              </a:lnSpc>
            </a:pPr>
          </a:p>
          <a:p>
            <a:pPr algn="l">
              <a:lnSpc>
                <a:spcPts val="3780"/>
              </a:lnSpc>
            </a:pPr>
            <a:r>
              <a:rPr lang="en-US" sz="3500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Major Components:</a:t>
            </a:r>
          </a:p>
          <a:p>
            <a:pPr algn="l" marL="755651" indent="-377825" lvl="1">
              <a:lnSpc>
                <a:spcPts val="378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Ensemble forecast data</a:t>
            </a:r>
          </a:p>
          <a:p>
            <a:pPr algn="l" marL="755651" indent="-377825" lvl="1">
              <a:lnSpc>
                <a:spcPts val="378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Probabilistic model</a:t>
            </a:r>
          </a:p>
          <a:p>
            <a:pPr algn="l" marL="755651" indent="-377825" lvl="1">
              <a:lnSpc>
                <a:spcPts val="378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Bayesian inference module</a:t>
            </a:r>
          </a:p>
          <a:p>
            <a:pPr algn="l">
              <a:lnSpc>
                <a:spcPts val="3780"/>
              </a:lnSpc>
            </a:pPr>
          </a:p>
          <a:p>
            <a:pPr algn="l">
              <a:lnSpc>
                <a:spcPts val="3780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6204016" y="9427016"/>
            <a:ext cx="826684" cy="566137"/>
            <a:chOff x="0" y="0"/>
            <a:chExt cx="1102246" cy="7548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2242" cy="754852"/>
            </a:xfrm>
            <a:custGeom>
              <a:avLst/>
              <a:gdLst/>
              <a:ahLst/>
              <a:cxnLst/>
              <a:rect r="r" b="b" t="t" l="l"/>
              <a:pathLst>
                <a:path h="754852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102246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887200" y="9427007"/>
            <a:ext cx="4316816" cy="566137"/>
            <a:chOff x="0" y="0"/>
            <a:chExt cx="5755754" cy="7548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755756" cy="754852"/>
            </a:xfrm>
            <a:custGeom>
              <a:avLst/>
              <a:gdLst/>
              <a:ahLst/>
              <a:cxnLst/>
              <a:rect r="r" b="b" t="t" l="l"/>
              <a:pathLst>
                <a:path h="754852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5755754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01/07/19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310161"/>
            <a:ext cx="15773400" cy="1437078"/>
            <a:chOff x="0" y="0"/>
            <a:chExt cx="21031200" cy="19161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916104"/>
            </a:xfrm>
            <a:custGeom>
              <a:avLst/>
              <a:gdLst/>
              <a:ahLst/>
              <a:cxnLst/>
              <a:rect r="r" b="b" t="t" l="l"/>
              <a:pathLst>
                <a:path h="1916104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986" r="0" b="-2627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21031200" cy="185895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Sources of Uncertainty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8700" y="2045583"/>
            <a:ext cx="16888701" cy="3993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378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Initial Condition Uncertainty</a:t>
            </a:r>
            <a:r>
              <a:rPr lang="en-US" sz="35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 Imperfect observations of the atmosphere</a:t>
            </a:r>
          </a:p>
          <a:p>
            <a:pPr algn="l">
              <a:lnSpc>
                <a:spcPts val="3780"/>
              </a:lnSpc>
            </a:pPr>
          </a:p>
          <a:p>
            <a:pPr algn="l" marL="755651" indent="-377825" lvl="1">
              <a:lnSpc>
                <a:spcPts val="378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Model Uncertainty:</a:t>
            </a:r>
            <a:r>
              <a:rPr lang="en-US" sz="35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Approximations in physical parameterizations</a:t>
            </a:r>
          </a:p>
          <a:p>
            <a:pPr algn="l">
              <a:lnSpc>
                <a:spcPts val="3780"/>
              </a:lnSpc>
            </a:pPr>
          </a:p>
          <a:p>
            <a:pPr algn="l" marL="755651" indent="-377825" lvl="1">
              <a:lnSpc>
                <a:spcPts val="378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Environmental Variability:</a:t>
            </a:r>
            <a:r>
              <a:rPr lang="en-US" sz="35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Natural randomness in weather evolution</a:t>
            </a:r>
          </a:p>
          <a:p>
            <a:pPr algn="l">
              <a:lnSpc>
                <a:spcPts val="3780"/>
              </a:lnSpc>
            </a:pPr>
          </a:p>
          <a:p>
            <a:pPr algn="l" marL="755651" indent="-377825" lvl="1">
              <a:lnSpc>
                <a:spcPts val="378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Data Uncertainty:</a:t>
            </a:r>
            <a:r>
              <a:rPr lang="en-US" sz="35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Limited or noisy historical observations of extreme events</a:t>
            </a:r>
          </a:p>
          <a:p>
            <a:pPr algn="l">
              <a:lnSpc>
                <a:spcPts val="3780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6204016" y="9427016"/>
            <a:ext cx="826684" cy="566137"/>
            <a:chOff x="0" y="0"/>
            <a:chExt cx="1102246" cy="7548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2242" cy="754852"/>
            </a:xfrm>
            <a:custGeom>
              <a:avLst/>
              <a:gdLst/>
              <a:ahLst/>
              <a:cxnLst/>
              <a:rect r="r" b="b" t="t" l="l"/>
              <a:pathLst>
                <a:path h="754852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102246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887200" y="9427007"/>
            <a:ext cx="4316816" cy="566137"/>
            <a:chOff x="0" y="0"/>
            <a:chExt cx="5755754" cy="7548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755756" cy="754852"/>
            </a:xfrm>
            <a:custGeom>
              <a:avLst/>
              <a:gdLst/>
              <a:ahLst/>
              <a:cxnLst/>
              <a:rect r="r" b="b" t="t" l="l"/>
              <a:pathLst>
                <a:path h="754852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5755754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01/07/19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0"/>
            <a:ext cx="15773400" cy="1437078"/>
            <a:chOff x="0" y="0"/>
            <a:chExt cx="21031200" cy="19161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916104"/>
            </a:xfrm>
            <a:custGeom>
              <a:avLst/>
              <a:gdLst/>
              <a:ahLst/>
              <a:cxnLst/>
              <a:rect r="r" b="b" t="t" l="l"/>
              <a:pathLst>
                <a:path h="1916104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986" r="0" b="-2627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21031200" cy="185895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Key Random Variables and Their Roles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8700" y="1659694"/>
            <a:ext cx="16888701" cy="4990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378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Atmospheric State Variables (e.g., rainfall, wind speed)</a:t>
            </a:r>
            <a:r>
              <a:rPr lang="en-US" sz="35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:</a:t>
            </a:r>
          </a:p>
          <a:p>
            <a:pPr algn="l">
              <a:lnSpc>
                <a:spcPts val="3780"/>
              </a:lnSpc>
            </a:pPr>
          </a:p>
          <a:p>
            <a:pPr algn="l" marL="755651" indent="-377825" lvl="1">
              <a:lnSpc>
                <a:spcPts val="378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Ensemble Forecast Outputs</a:t>
            </a:r>
          </a:p>
          <a:p>
            <a:pPr algn="l">
              <a:lnSpc>
                <a:spcPts val="3780"/>
              </a:lnSpc>
            </a:pPr>
          </a:p>
          <a:p>
            <a:pPr algn="l" marL="755651" indent="-377825" lvl="1">
              <a:lnSpc>
                <a:spcPts val="378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Extreme Event Indicator</a:t>
            </a:r>
          </a:p>
          <a:p>
            <a:pPr algn="l">
              <a:lnSpc>
                <a:spcPts val="3780"/>
              </a:lnSpc>
            </a:pPr>
          </a:p>
          <a:p>
            <a:pPr algn="l" marL="755651" indent="-377825" lvl="1">
              <a:lnSpc>
                <a:spcPts val="378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Model Uncertainty Term</a:t>
            </a:r>
          </a:p>
          <a:p>
            <a:pPr algn="l">
              <a:lnSpc>
                <a:spcPts val="3780"/>
              </a:lnSpc>
            </a:pPr>
          </a:p>
          <a:p>
            <a:pPr algn="l" marL="755651" indent="-377825" lvl="1">
              <a:lnSpc>
                <a:spcPts val="378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Prior Event Probability</a:t>
            </a:r>
          </a:p>
          <a:p>
            <a:pPr algn="l">
              <a:lnSpc>
                <a:spcPts val="3780"/>
              </a:lnSpc>
            </a:pPr>
          </a:p>
        </p:txBody>
      </p:sp>
      <p:grpSp>
        <p:nvGrpSpPr>
          <p:cNvPr name="Group 14" id="14"/>
          <p:cNvGrpSpPr/>
          <p:nvPr/>
        </p:nvGrpSpPr>
        <p:grpSpPr>
          <a:xfrm rot="0">
            <a:off x="16204016" y="9427016"/>
            <a:ext cx="826684" cy="566137"/>
            <a:chOff x="0" y="0"/>
            <a:chExt cx="1102246" cy="7548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2242" cy="754852"/>
            </a:xfrm>
            <a:custGeom>
              <a:avLst/>
              <a:gdLst/>
              <a:ahLst/>
              <a:cxnLst/>
              <a:rect r="r" b="b" t="t" l="l"/>
              <a:pathLst>
                <a:path h="754852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102246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887200" y="9427007"/>
            <a:ext cx="4316816" cy="566137"/>
            <a:chOff x="0" y="0"/>
            <a:chExt cx="5755754" cy="7548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755756" cy="754852"/>
            </a:xfrm>
            <a:custGeom>
              <a:avLst/>
              <a:gdLst/>
              <a:ahLst/>
              <a:cxnLst/>
              <a:rect r="r" b="b" t="t" l="l"/>
              <a:pathLst>
                <a:path h="754852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5755754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01/07/19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758580" y="653528"/>
            <a:ext cx="7886700" cy="2246703"/>
            <a:chOff x="0" y="0"/>
            <a:chExt cx="10515600" cy="29956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515600" cy="2995604"/>
            </a:xfrm>
            <a:custGeom>
              <a:avLst/>
              <a:gdLst/>
              <a:ahLst/>
              <a:cxnLst/>
              <a:rect r="r" b="b" t="t" l="l"/>
              <a:pathLst>
                <a:path h="2995604" w="10515600">
                  <a:moveTo>
                    <a:pt x="0" y="0"/>
                  </a:moveTo>
                  <a:lnTo>
                    <a:pt x="10515600" y="0"/>
                  </a:lnTo>
                  <a:lnTo>
                    <a:pt x="10515600" y="2995604"/>
                  </a:lnTo>
                  <a:lnTo>
                    <a:pt x="0" y="29956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567" r="-100000" b="-13202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10515600" cy="293845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Probabilistic Models and Assumptions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84" cy="566137"/>
            <a:chOff x="0" y="0"/>
            <a:chExt cx="1102246" cy="7548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42" cy="754852"/>
            </a:xfrm>
            <a:custGeom>
              <a:avLst/>
              <a:gdLst/>
              <a:ahLst/>
              <a:cxnLst/>
              <a:rect r="r" b="b" t="t" l="l"/>
              <a:pathLst>
                <a:path h="754852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102246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87200" y="9427007"/>
            <a:ext cx="4316816" cy="566137"/>
            <a:chOff x="0" y="0"/>
            <a:chExt cx="5755754" cy="7548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55756" cy="754852"/>
            </a:xfrm>
            <a:custGeom>
              <a:avLst/>
              <a:gdLst/>
              <a:ahLst/>
              <a:cxnLst/>
              <a:rect r="r" b="b" t="t" l="l"/>
              <a:pathLst>
                <a:path h="754852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755754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01/07/19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8420179" y="331292"/>
            <a:ext cx="9527826" cy="9095725"/>
          </a:xfrm>
          <a:custGeom>
            <a:avLst/>
            <a:gdLst/>
            <a:ahLst/>
            <a:cxnLst/>
            <a:rect r="r" b="b" t="t" l="l"/>
            <a:pathLst>
              <a:path h="9095725" w="9527826">
                <a:moveTo>
                  <a:pt x="0" y="0"/>
                </a:moveTo>
                <a:lnTo>
                  <a:pt x="9527826" y="0"/>
                </a:lnTo>
                <a:lnTo>
                  <a:pt x="9527826" y="9095724"/>
                </a:lnTo>
                <a:lnTo>
                  <a:pt x="0" y="909572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758580" y="3483855"/>
            <a:ext cx="7065514" cy="3907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500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Ensemble Weather Forecasting</a:t>
            </a:r>
          </a:p>
          <a:p>
            <a:pPr algn="l" marL="755651" indent="-377825" lvl="1">
              <a:lnSpc>
                <a:spcPts val="378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</a:t>
            </a:r>
            <a:r>
              <a:rPr lang="en-US" sz="35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pproximate the uncertainty via multiple ensemble members</a:t>
            </a:r>
          </a:p>
          <a:p>
            <a:pPr algn="l">
              <a:lnSpc>
                <a:spcPts val="3780"/>
              </a:lnSpc>
            </a:pPr>
            <a:r>
              <a:rPr lang="en-US" sz="3500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Assumptions</a:t>
            </a:r>
          </a:p>
          <a:p>
            <a:pPr algn="l" marL="755651" indent="-377825" lvl="1">
              <a:lnSpc>
                <a:spcPts val="378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Conditionally independent members</a:t>
            </a:r>
          </a:p>
          <a:p>
            <a:pPr algn="l" marL="755651" indent="-377825" lvl="1">
              <a:lnSpc>
                <a:spcPts val="378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Bayesian updating using past data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0"/>
            <a:ext cx="15773400" cy="1437078"/>
            <a:chOff x="0" y="0"/>
            <a:chExt cx="21031200" cy="19161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916104"/>
            </a:xfrm>
            <a:custGeom>
              <a:avLst/>
              <a:gdLst/>
              <a:ahLst/>
              <a:cxnLst/>
              <a:rect r="r" b="b" t="t" l="l"/>
              <a:pathLst>
                <a:path h="1916104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986" r="0" b="-2627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21031200" cy="185895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Probabilistic Reasoning and Inference Logic 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8700" y="1749734"/>
            <a:ext cx="16708621" cy="4291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5651" indent="-377825" lvl="1">
              <a:lnSpc>
                <a:spcPts val="378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Uncertainty Propagation</a:t>
            </a:r>
          </a:p>
          <a:p>
            <a:pPr algn="l">
              <a:lnSpc>
                <a:spcPts val="3780"/>
              </a:lnSpc>
            </a:pPr>
          </a:p>
          <a:p>
            <a:pPr algn="l" marL="755651" indent="-377825" lvl="1">
              <a:lnSpc>
                <a:spcPts val="378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Ensemble Variability</a:t>
            </a:r>
          </a:p>
          <a:p>
            <a:pPr algn="l">
              <a:lnSpc>
                <a:spcPts val="3780"/>
              </a:lnSpc>
            </a:pPr>
          </a:p>
          <a:p>
            <a:pPr algn="l" marL="755651" indent="-377825" lvl="1">
              <a:lnSpc>
                <a:spcPts val="378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Conditional Inference</a:t>
            </a:r>
          </a:p>
          <a:p>
            <a:pPr algn="l">
              <a:lnSpc>
                <a:spcPts val="3780"/>
              </a:lnSpc>
            </a:pPr>
          </a:p>
          <a:p>
            <a:pPr algn="l" marL="755651" indent="-377825" lvl="1">
              <a:lnSpc>
                <a:spcPts val="378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Probability Aggregation</a:t>
            </a:r>
          </a:p>
          <a:p>
            <a:pPr algn="l">
              <a:lnSpc>
                <a:spcPts val="3780"/>
              </a:lnSpc>
            </a:pPr>
          </a:p>
          <a:p>
            <a:pPr algn="l" marL="755651" indent="-377825" lvl="1">
              <a:lnSpc>
                <a:spcPts val="378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Risk-Based Decision Support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6204016" y="9427016"/>
            <a:ext cx="826684" cy="566137"/>
            <a:chOff x="0" y="0"/>
            <a:chExt cx="1102246" cy="7548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2242" cy="754852"/>
            </a:xfrm>
            <a:custGeom>
              <a:avLst/>
              <a:gdLst/>
              <a:ahLst/>
              <a:cxnLst/>
              <a:rect r="r" b="b" t="t" l="l"/>
              <a:pathLst>
                <a:path h="754852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102246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887200" y="9427007"/>
            <a:ext cx="4316816" cy="566137"/>
            <a:chOff x="0" y="0"/>
            <a:chExt cx="5755754" cy="7548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755756" cy="754852"/>
            </a:xfrm>
            <a:custGeom>
              <a:avLst/>
              <a:gdLst/>
              <a:ahLst/>
              <a:cxnLst/>
              <a:rect r="r" b="b" t="t" l="l"/>
              <a:pathLst>
                <a:path h="754852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5755754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01/07/19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0"/>
            <a:ext cx="13016908" cy="2246703"/>
            <a:chOff x="0" y="0"/>
            <a:chExt cx="17355877" cy="29956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355877" cy="2995604"/>
            </a:xfrm>
            <a:custGeom>
              <a:avLst/>
              <a:gdLst/>
              <a:ahLst/>
              <a:cxnLst/>
              <a:rect r="r" b="b" t="t" l="l"/>
              <a:pathLst>
                <a:path h="2995604" w="17355877">
                  <a:moveTo>
                    <a:pt x="0" y="0"/>
                  </a:moveTo>
                  <a:lnTo>
                    <a:pt x="17355877" y="0"/>
                  </a:lnTo>
                  <a:lnTo>
                    <a:pt x="17355877" y="2995604"/>
                  </a:lnTo>
                  <a:lnTo>
                    <a:pt x="0" y="29956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41567" r="-21176" b="-132029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17355877" cy="293845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Operationalizing Probabilistic Reasoning in the Project 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28373" y="2440900"/>
            <a:ext cx="13217562" cy="4301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60659" indent="-380329" lvl="1">
              <a:lnSpc>
                <a:spcPts val="3805"/>
              </a:lnSpc>
              <a:buFont typeface="Arial"/>
              <a:buChar char="•"/>
            </a:pPr>
            <a:r>
              <a:rPr lang="en-US" sz="352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Available ensemble forecast data are considered probabilistic samples.</a:t>
            </a:r>
          </a:p>
          <a:p>
            <a:pPr algn="l">
              <a:lnSpc>
                <a:spcPts val="3805"/>
              </a:lnSpc>
            </a:pPr>
          </a:p>
          <a:p>
            <a:pPr algn="l" marL="760659" indent="-380329" lvl="1">
              <a:lnSpc>
                <a:spcPts val="3805"/>
              </a:lnSpc>
              <a:buFont typeface="Arial"/>
              <a:buChar char="•"/>
            </a:pPr>
            <a:r>
              <a:rPr lang="en-US" sz="352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Ensemble outputs are interpreted with Bayesian reasoning.</a:t>
            </a:r>
          </a:p>
          <a:p>
            <a:pPr algn="l">
              <a:lnSpc>
                <a:spcPts val="3805"/>
              </a:lnSpc>
            </a:pPr>
          </a:p>
          <a:p>
            <a:pPr algn="l" marL="760659" indent="-380329" lvl="1">
              <a:lnSpc>
                <a:spcPts val="3805"/>
              </a:lnSpc>
              <a:buFont typeface="Arial"/>
              <a:buChar char="•"/>
            </a:pPr>
            <a:r>
              <a:rPr lang="en-US" sz="352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Performance is evaluated using probability based  metrics.</a:t>
            </a:r>
          </a:p>
          <a:p>
            <a:pPr algn="l">
              <a:lnSpc>
                <a:spcPts val="3805"/>
              </a:lnSpc>
            </a:pPr>
          </a:p>
          <a:p>
            <a:pPr algn="l" marL="760659" indent="-380329" lvl="1">
              <a:lnSpc>
                <a:spcPts val="3805"/>
              </a:lnSpc>
              <a:buFont typeface="Arial"/>
              <a:buChar char="•"/>
            </a:pPr>
            <a:r>
              <a:rPr lang="en-US" sz="3523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Ensemble models represent uncertainty, rather than giving a deterministic value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6204016" y="9427016"/>
            <a:ext cx="826684" cy="566137"/>
            <a:chOff x="0" y="0"/>
            <a:chExt cx="1102246" cy="7548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2242" cy="754852"/>
            </a:xfrm>
            <a:custGeom>
              <a:avLst/>
              <a:gdLst/>
              <a:ahLst/>
              <a:cxnLst/>
              <a:rect r="r" b="b" t="t" l="l"/>
              <a:pathLst>
                <a:path h="754852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102246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887200" y="9427007"/>
            <a:ext cx="4316816" cy="566137"/>
            <a:chOff x="0" y="0"/>
            <a:chExt cx="5755754" cy="7548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755756" cy="754852"/>
            </a:xfrm>
            <a:custGeom>
              <a:avLst/>
              <a:gdLst/>
              <a:ahLst/>
              <a:cxnLst/>
              <a:rect r="r" b="b" t="t" l="l"/>
              <a:pathLst>
                <a:path h="754852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5755754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01/07/19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14567311" y="242256"/>
            <a:ext cx="2869378" cy="9041876"/>
          </a:xfrm>
          <a:custGeom>
            <a:avLst/>
            <a:gdLst/>
            <a:ahLst/>
            <a:cxnLst/>
            <a:rect r="r" b="b" t="t" l="l"/>
            <a:pathLst>
              <a:path h="9041876" w="2869378">
                <a:moveTo>
                  <a:pt x="0" y="0"/>
                </a:moveTo>
                <a:lnTo>
                  <a:pt x="2869378" y="0"/>
                </a:lnTo>
                <a:lnTo>
                  <a:pt x="2869378" y="9041876"/>
                </a:lnTo>
                <a:lnTo>
                  <a:pt x="0" y="904187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286000" y="-66675"/>
            <a:ext cx="15773400" cy="1437078"/>
            <a:chOff x="0" y="0"/>
            <a:chExt cx="21031200" cy="19161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916104"/>
            </a:xfrm>
            <a:custGeom>
              <a:avLst/>
              <a:gdLst/>
              <a:ahLst/>
              <a:cxnLst/>
              <a:rect r="r" b="b" t="t" l="l"/>
              <a:pathLst>
                <a:path h="1916104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986" r="0" b="-2627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21031200" cy="185895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Current Limitations and Conceptual Gaps 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84" cy="566137"/>
            <a:chOff x="0" y="0"/>
            <a:chExt cx="1102246" cy="7548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42" cy="754852"/>
            </a:xfrm>
            <a:custGeom>
              <a:avLst/>
              <a:gdLst/>
              <a:ahLst/>
              <a:cxnLst/>
              <a:rect r="r" b="b" t="t" l="l"/>
              <a:pathLst>
                <a:path h="754852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102246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87200" y="9427007"/>
            <a:ext cx="4316816" cy="566137"/>
            <a:chOff x="0" y="0"/>
            <a:chExt cx="5755754" cy="7548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55756" cy="754852"/>
            </a:xfrm>
            <a:custGeom>
              <a:avLst/>
              <a:gdLst/>
              <a:ahLst/>
              <a:cxnLst/>
              <a:rect r="r" b="b" t="t" l="l"/>
              <a:pathLst>
                <a:path h="754852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755754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01/07/19</a:t>
              </a:r>
            </a:p>
          </p:txBody>
        </p:sp>
      </p:grpSp>
      <p:graphicFrame>
        <p:nvGraphicFramePr>
          <p:cNvPr name="Table 19" id="19"/>
          <p:cNvGraphicFramePr>
            <a:graphicFrameLocks noGrp="true"/>
          </p:cNvGraphicFramePr>
          <p:nvPr/>
        </p:nvGraphicFramePr>
        <p:xfrm>
          <a:off x="2586942" y="1437078"/>
          <a:ext cx="13415058" cy="7924800"/>
        </p:xfrm>
        <a:graphic>
          <a:graphicData uri="http://schemas.openxmlformats.org/drawingml/2006/table">
            <a:tbl>
              <a:tblPr/>
              <a:tblGrid>
                <a:gridCol w="6556629"/>
                <a:gridCol w="6858429"/>
              </a:tblGrid>
              <a:tr h="1368655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true">
                          <a:solidFill>
                            <a:srgbClr val="000000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Component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 b="true">
                          <a:solidFill>
                            <a:srgbClr val="000000"/>
                          </a:solidFill>
                          <a:latin typeface="Helvetica World Bold"/>
                          <a:ea typeface="Helvetica World Bold"/>
                          <a:cs typeface="Helvetica World Bold"/>
                          <a:sym typeface="Helvetica World Bold"/>
                        </a:rPr>
                        <a:t>Current Limitation/Gap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122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Initial condition perturbations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Need Refinement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122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Model Uncertainty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Not fully captured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122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Prior distributions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Data-limited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122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Independence assumption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Correlation possible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122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Ensemble size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4899"/>
                        </a:lnSpc>
                        <a:defRPr/>
                      </a:pPr>
                      <a:r>
                        <a:rPr lang="en-US" sz="3499">
                          <a:solidFill>
                            <a:srgbClr val="000000"/>
                          </a:solidFill>
                          <a:latin typeface="Helvetica World"/>
                          <a:ea typeface="Helvetica World"/>
                          <a:cs typeface="Helvetica World"/>
                          <a:sym typeface="Helvetica World"/>
                        </a:rPr>
                        <a:t>Maybe Insufficient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028700" y="0"/>
            <a:ext cx="15773400" cy="1437078"/>
            <a:chOff x="0" y="0"/>
            <a:chExt cx="21031200" cy="19161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916104"/>
            </a:xfrm>
            <a:custGeom>
              <a:avLst/>
              <a:gdLst/>
              <a:ahLst/>
              <a:cxnLst/>
              <a:rect r="r" b="b" t="t" l="l"/>
              <a:pathLst>
                <a:path h="1916104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986" r="0" b="-2627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21031200" cy="185895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Planned Refinements and Role Coordination  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28700" y="1716405"/>
            <a:ext cx="16483520" cy="5995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sz="3500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Next Milestone Refinements:</a:t>
            </a:r>
          </a:p>
          <a:p>
            <a:pPr algn="l" marL="755651" indent="-377825" lvl="1">
              <a:lnSpc>
                <a:spcPts val="378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Formalize random variables and distributions</a:t>
            </a:r>
          </a:p>
          <a:p>
            <a:pPr algn="l" marL="755651" indent="-377825" lvl="1">
              <a:lnSpc>
                <a:spcPts val="378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Introduce Bayesian updating for probability estimates</a:t>
            </a:r>
          </a:p>
          <a:p>
            <a:pPr algn="l">
              <a:lnSpc>
                <a:spcPts val="3780"/>
              </a:lnSpc>
            </a:pPr>
          </a:p>
          <a:p>
            <a:pPr algn="l">
              <a:lnSpc>
                <a:spcPts val="3780"/>
              </a:lnSpc>
            </a:pPr>
            <a:r>
              <a:rPr lang="en-US" sz="3500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Conceptual and Modelling Tasks:</a:t>
            </a:r>
          </a:p>
          <a:p>
            <a:pPr algn="l" marL="755651" indent="-377825" lvl="1">
              <a:lnSpc>
                <a:spcPts val="378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Define probabilistic thresholds for extreme events</a:t>
            </a:r>
          </a:p>
          <a:p>
            <a:pPr algn="l" marL="755651" indent="-377825" lvl="1">
              <a:lnSpc>
                <a:spcPts val="3780"/>
              </a:lnSpc>
              <a:buFont typeface="Arial"/>
              <a:buChar char="•"/>
            </a:pPr>
            <a:r>
              <a:rPr lang="en-US" sz="35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Choose suitable measures to evaluate probability accuracy.</a:t>
            </a:r>
          </a:p>
          <a:p>
            <a:pPr algn="l">
              <a:lnSpc>
                <a:spcPts val="3780"/>
              </a:lnSpc>
            </a:pPr>
          </a:p>
          <a:p>
            <a:pPr algn="l">
              <a:lnSpc>
                <a:spcPts val="3780"/>
              </a:lnSpc>
            </a:pPr>
            <a:r>
              <a:rPr lang="en-US" sz="3500" b="true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Role Coordination:</a:t>
            </a:r>
          </a:p>
          <a:p>
            <a:pPr algn="l" marL="755651" indent="-377825" lvl="1">
              <a:lnSpc>
                <a:spcPts val="378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Github Manager:</a:t>
            </a:r>
            <a:r>
              <a:rPr lang="en-US" sz="35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 Keep model organized and consistent.</a:t>
            </a:r>
          </a:p>
          <a:p>
            <a:pPr algn="l" marL="755651" indent="-377825" lvl="1">
              <a:lnSpc>
                <a:spcPts val="378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Scribes: </a:t>
            </a:r>
            <a:r>
              <a:rPr lang="en-US" sz="35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Note changes and update assumptions</a:t>
            </a:r>
          </a:p>
          <a:p>
            <a:pPr algn="l" marL="755651" indent="-377825" lvl="1">
              <a:lnSpc>
                <a:spcPts val="3780"/>
              </a:lnSpc>
              <a:buFont typeface="Arial"/>
              <a:buChar char="•"/>
            </a:pPr>
            <a:r>
              <a:rPr lang="en-US" b="true" sz="3500">
                <a:solidFill>
                  <a:srgbClr val="00000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Video Team: </a:t>
            </a:r>
            <a:r>
              <a:rPr lang="en-US" sz="3500">
                <a:solidFill>
                  <a:srgbClr val="00000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Explain how system works and how uncertainty is handled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6204016" y="9427016"/>
            <a:ext cx="826684" cy="566137"/>
            <a:chOff x="0" y="0"/>
            <a:chExt cx="1102246" cy="75485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2242" cy="754852"/>
            </a:xfrm>
            <a:custGeom>
              <a:avLst/>
              <a:gdLst/>
              <a:ahLst/>
              <a:cxnLst/>
              <a:rect r="r" b="b" t="t" l="l"/>
              <a:pathLst>
                <a:path h="754852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0"/>
              <a:ext cx="1102246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2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1887200" y="9427007"/>
            <a:ext cx="4316816" cy="566137"/>
            <a:chOff x="0" y="0"/>
            <a:chExt cx="5755754" cy="75485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5755756" cy="754852"/>
            </a:xfrm>
            <a:custGeom>
              <a:avLst/>
              <a:gdLst/>
              <a:ahLst/>
              <a:cxnLst/>
              <a:rect r="r" b="b" t="t" l="l"/>
              <a:pathLst>
                <a:path h="754852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3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>
              <a:off x="0" y="0"/>
              <a:ext cx="5755754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01/07/19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2286000" y="0"/>
            <a:ext cx="15773400" cy="1437078"/>
            <a:chOff x="0" y="0"/>
            <a:chExt cx="21031200" cy="191610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1916104"/>
            </a:xfrm>
            <a:custGeom>
              <a:avLst/>
              <a:gdLst/>
              <a:ahLst/>
              <a:cxnLst/>
              <a:rect r="r" b="b" t="t" l="l"/>
              <a:pathLst>
                <a:path h="1916104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1916104"/>
                  </a:lnTo>
                  <a:lnTo>
                    <a:pt x="0" y="1916104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64986" r="0" b="-262750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21031200" cy="1858955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l">
                <a:lnSpc>
                  <a:spcPts val="5832"/>
                </a:lnSpc>
              </a:pPr>
              <a:r>
                <a:rPr lang="en-US" sz="54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Summary of Group-Level Understanding   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84" cy="566137"/>
            <a:chOff x="0" y="0"/>
            <a:chExt cx="1102246" cy="7548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42" cy="754852"/>
            </a:xfrm>
            <a:custGeom>
              <a:avLst/>
              <a:gdLst/>
              <a:ahLst/>
              <a:cxnLst/>
              <a:rect r="r" b="b" t="t" l="l"/>
              <a:pathLst>
                <a:path h="754852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102246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87200" y="9427007"/>
            <a:ext cx="4316816" cy="566137"/>
            <a:chOff x="0" y="0"/>
            <a:chExt cx="5755754" cy="7548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55756" cy="754852"/>
            </a:xfrm>
            <a:custGeom>
              <a:avLst/>
              <a:gdLst/>
              <a:ahLst/>
              <a:cxnLst/>
              <a:rect r="r" b="b" t="t" l="l"/>
              <a:pathLst>
                <a:path h="754852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755754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01/07/19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553056" y="1799647"/>
            <a:ext cx="4166582" cy="6237505"/>
            <a:chOff x="0" y="0"/>
            <a:chExt cx="1097371" cy="164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1097371" cy="1642800"/>
            </a:xfrm>
            <a:custGeom>
              <a:avLst/>
              <a:gdLst/>
              <a:ahLst/>
              <a:cxnLst/>
              <a:rect r="r" b="b" t="t" l="l"/>
              <a:pathLst>
                <a:path h="1642800" w="1097371">
                  <a:moveTo>
                    <a:pt x="94763" y="0"/>
                  </a:moveTo>
                  <a:lnTo>
                    <a:pt x="1002608" y="0"/>
                  </a:lnTo>
                  <a:cubicBezTo>
                    <a:pt x="1054945" y="0"/>
                    <a:pt x="1097371" y="42427"/>
                    <a:pt x="1097371" y="94763"/>
                  </a:cubicBezTo>
                  <a:lnTo>
                    <a:pt x="1097371" y="1548037"/>
                  </a:lnTo>
                  <a:cubicBezTo>
                    <a:pt x="1097371" y="1573169"/>
                    <a:pt x="1087388" y="1597273"/>
                    <a:pt x="1069616" y="1615044"/>
                  </a:cubicBezTo>
                  <a:cubicBezTo>
                    <a:pt x="1051844" y="1632816"/>
                    <a:pt x="1027741" y="1642800"/>
                    <a:pt x="1002608" y="1642800"/>
                  </a:cubicBezTo>
                  <a:lnTo>
                    <a:pt x="94763" y="1642800"/>
                  </a:lnTo>
                  <a:cubicBezTo>
                    <a:pt x="69630" y="1642800"/>
                    <a:pt x="45527" y="1632816"/>
                    <a:pt x="27755" y="1615044"/>
                  </a:cubicBezTo>
                  <a:cubicBezTo>
                    <a:pt x="9984" y="1597273"/>
                    <a:pt x="0" y="1573169"/>
                    <a:pt x="0" y="1548037"/>
                  </a:cubicBezTo>
                  <a:lnTo>
                    <a:pt x="0" y="94763"/>
                  </a:lnTo>
                  <a:cubicBezTo>
                    <a:pt x="0" y="42427"/>
                    <a:pt x="42427" y="0"/>
                    <a:pt x="94763" y="0"/>
                  </a:cubicBezTo>
                  <a:close/>
                </a:path>
              </a:pathLst>
            </a:custGeom>
            <a:solidFill>
              <a:srgbClr val="7D1916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0"/>
              <a:ext cx="1097371" cy="1642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7060709" y="1799647"/>
            <a:ext cx="4166582" cy="6237505"/>
            <a:chOff x="0" y="0"/>
            <a:chExt cx="1097371" cy="164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1097371" cy="1642800"/>
            </a:xfrm>
            <a:custGeom>
              <a:avLst/>
              <a:gdLst/>
              <a:ahLst/>
              <a:cxnLst/>
              <a:rect r="r" b="b" t="t" l="l"/>
              <a:pathLst>
                <a:path h="1642800" w="1097371">
                  <a:moveTo>
                    <a:pt x="94763" y="0"/>
                  </a:moveTo>
                  <a:lnTo>
                    <a:pt x="1002608" y="0"/>
                  </a:lnTo>
                  <a:cubicBezTo>
                    <a:pt x="1054945" y="0"/>
                    <a:pt x="1097371" y="42427"/>
                    <a:pt x="1097371" y="94763"/>
                  </a:cubicBezTo>
                  <a:lnTo>
                    <a:pt x="1097371" y="1548037"/>
                  </a:lnTo>
                  <a:cubicBezTo>
                    <a:pt x="1097371" y="1573169"/>
                    <a:pt x="1087388" y="1597273"/>
                    <a:pt x="1069616" y="1615044"/>
                  </a:cubicBezTo>
                  <a:cubicBezTo>
                    <a:pt x="1051844" y="1632816"/>
                    <a:pt x="1027741" y="1642800"/>
                    <a:pt x="1002608" y="1642800"/>
                  </a:cubicBezTo>
                  <a:lnTo>
                    <a:pt x="94763" y="1642800"/>
                  </a:lnTo>
                  <a:cubicBezTo>
                    <a:pt x="69630" y="1642800"/>
                    <a:pt x="45527" y="1632816"/>
                    <a:pt x="27755" y="1615044"/>
                  </a:cubicBezTo>
                  <a:cubicBezTo>
                    <a:pt x="9984" y="1597273"/>
                    <a:pt x="0" y="1573169"/>
                    <a:pt x="0" y="1548037"/>
                  </a:cubicBezTo>
                  <a:lnTo>
                    <a:pt x="0" y="94763"/>
                  </a:lnTo>
                  <a:cubicBezTo>
                    <a:pt x="0" y="42427"/>
                    <a:pt x="42427" y="0"/>
                    <a:pt x="94763" y="0"/>
                  </a:cubicBezTo>
                  <a:close/>
                </a:path>
              </a:pathLst>
            </a:custGeom>
            <a:solidFill>
              <a:srgbClr val="7D1916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0"/>
              <a:ext cx="1097371" cy="1642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12172379" y="1799647"/>
            <a:ext cx="4166582" cy="6237505"/>
            <a:chOff x="0" y="0"/>
            <a:chExt cx="1097371" cy="164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97371" cy="1642800"/>
            </a:xfrm>
            <a:custGeom>
              <a:avLst/>
              <a:gdLst/>
              <a:ahLst/>
              <a:cxnLst/>
              <a:rect r="r" b="b" t="t" l="l"/>
              <a:pathLst>
                <a:path h="1642800" w="1097371">
                  <a:moveTo>
                    <a:pt x="94763" y="0"/>
                  </a:moveTo>
                  <a:lnTo>
                    <a:pt x="1002608" y="0"/>
                  </a:lnTo>
                  <a:cubicBezTo>
                    <a:pt x="1054945" y="0"/>
                    <a:pt x="1097371" y="42427"/>
                    <a:pt x="1097371" y="94763"/>
                  </a:cubicBezTo>
                  <a:lnTo>
                    <a:pt x="1097371" y="1548037"/>
                  </a:lnTo>
                  <a:cubicBezTo>
                    <a:pt x="1097371" y="1573169"/>
                    <a:pt x="1087388" y="1597273"/>
                    <a:pt x="1069616" y="1615044"/>
                  </a:cubicBezTo>
                  <a:cubicBezTo>
                    <a:pt x="1051844" y="1632816"/>
                    <a:pt x="1027741" y="1642800"/>
                    <a:pt x="1002608" y="1642800"/>
                  </a:cubicBezTo>
                  <a:lnTo>
                    <a:pt x="94763" y="1642800"/>
                  </a:lnTo>
                  <a:cubicBezTo>
                    <a:pt x="69630" y="1642800"/>
                    <a:pt x="45527" y="1632816"/>
                    <a:pt x="27755" y="1615044"/>
                  </a:cubicBezTo>
                  <a:cubicBezTo>
                    <a:pt x="9984" y="1597273"/>
                    <a:pt x="0" y="1573169"/>
                    <a:pt x="0" y="1548037"/>
                  </a:cubicBezTo>
                  <a:lnTo>
                    <a:pt x="0" y="94763"/>
                  </a:lnTo>
                  <a:cubicBezTo>
                    <a:pt x="0" y="42427"/>
                    <a:pt x="42427" y="0"/>
                    <a:pt x="94763" y="0"/>
                  </a:cubicBezTo>
                  <a:close/>
                </a:path>
              </a:pathLst>
            </a:custGeom>
            <a:solidFill>
              <a:srgbClr val="7D1916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0"/>
              <a:ext cx="1097371" cy="16428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60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562581" y="1889658"/>
            <a:ext cx="4166582" cy="1216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b="true" sz="3500">
                <a:solidFill>
                  <a:srgbClr val="F2F1E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Probabilistic Model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060709" y="1889658"/>
            <a:ext cx="4166582" cy="1216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F2F1E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Inference</a:t>
            </a:r>
          </a:p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F2F1E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Logic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172379" y="1889658"/>
            <a:ext cx="4166582" cy="12160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F2F1E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Project</a:t>
            </a:r>
          </a:p>
          <a:p>
            <a:pPr algn="ctr">
              <a:lnSpc>
                <a:spcPts val="4900"/>
              </a:lnSpc>
            </a:pPr>
            <a:r>
              <a:rPr lang="en-US" sz="3500" b="true">
                <a:solidFill>
                  <a:srgbClr val="F2F1EE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Direction</a:t>
            </a:r>
          </a:p>
        </p:txBody>
      </p:sp>
      <p:sp>
        <p:nvSpPr>
          <p:cNvPr name="AutoShape 31" id="31"/>
          <p:cNvSpPr/>
          <p:nvPr/>
        </p:nvSpPr>
        <p:spPr>
          <a:xfrm>
            <a:off x="1562581" y="3410227"/>
            <a:ext cx="4157057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>
            <a:off x="7060709" y="3391177"/>
            <a:ext cx="416658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>
            <a:off x="12172379" y="3372127"/>
            <a:ext cx="4166582" cy="0"/>
          </a:xfrm>
          <a:prstGeom prst="line">
            <a:avLst/>
          </a:prstGeom>
          <a:ln cap="flat" w="381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4" id="34"/>
          <p:cNvSpPr txBox="true"/>
          <p:nvPr/>
        </p:nvSpPr>
        <p:spPr>
          <a:xfrm rot="0">
            <a:off x="1928391" y="3410903"/>
            <a:ext cx="3434962" cy="409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2F1EE"/>
                </a:solidFill>
                <a:latin typeface="Canva Sans"/>
                <a:ea typeface="Canva Sans"/>
                <a:cs typeface="Canva Sans"/>
                <a:sym typeface="Canva Sans"/>
              </a:rPr>
              <a:t>Ensemble simulations represent uncertainty</a:t>
            </a:r>
          </a:p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2F1EE"/>
                </a:solidFill>
                <a:latin typeface="Canva Sans"/>
                <a:ea typeface="Canva Sans"/>
                <a:cs typeface="Canva Sans"/>
                <a:sym typeface="Canva Sans"/>
              </a:rPr>
              <a:t>Extreme events are estimated using probability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426519" y="3353077"/>
            <a:ext cx="3434962" cy="4098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2F1EE"/>
                </a:solidFill>
                <a:latin typeface="Canva Sans"/>
                <a:ea typeface="Canva Sans"/>
                <a:cs typeface="Canva Sans"/>
                <a:sym typeface="Canva Sans"/>
              </a:rPr>
              <a:t>Bayesian updating combines prior + evidence</a:t>
            </a:r>
          </a:p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2F1EE"/>
                </a:solidFill>
                <a:latin typeface="Canva Sans"/>
                <a:ea typeface="Canva Sans"/>
                <a:cs typeface="Canva Sans"/>
                <a:sym typeface="Canva Sans"/>
              </a:rPr>
              <a:t>Conditional independence assumed for members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672441" y="3353077"/>
            <a:ext cx="3434962" cy="358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2F1EE"/>
                </a:solidFill>
                <a:latin typeface="Canva Sans"/>
                <a:ea typeface="Canva Sans"/>
                <a:cs typeface="Canva Sans"/>
                <a:sym typeface="Canva Sans"/>
              </a:rPr>
              <a:t>Integrate model uncertainty in next milestone</a:t>
            </a:r>
          </a:p>
          <a:p>
            <a:pPr algn="l" marL="626112" indent="-313056" lvl="1">
              <a:lnSpc>
                <a:spcPts val="4060"/>
              </a:lnSpc>
              <a:buFont typeface="Arial"/>
              <a:buChar char="•"/>
            </a:pPr>
            <a:r>
              <a:rPr lang="en-US" sz="2900">
                <a:solidFill>
                  <a:srgbClr val="F2F1EE"/>
                </a:solidFill>
                <a:latin typeface="Canva Sans"/>
                <a:ea typeface="Canva Sans"/>
                <a:cs typeface="Canva Sans"/>
                <a:sym typeface="Canva Sans"/>
              </a:rPr>
              <a:t>Evaluate using probability based metrics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F1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286000" y="10134600"/>
            <a:ext cx="13716000" cy="152400"/>
            <a:chOff x="0" y="0"/>
            <a:chExt cx="18288000" cy="203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8288000" cy="203200"/>
            </a:xfrm>
            <a:custGeom>
              <a:avLst/>
              <a:gdLst/>
              <a:ahLst/>
              <a:cxnLst/>
              <a:rect r="r" b="b" t="t" l="l"/>
              <a:pathLst>
                <a:path h="203200" w="18288000">
                  <a:moveTo>
                    <a:pt x="0" y="0"/>
                  </a:moveTo>
                  <a:lnTo>
                    <a:pt x="18288000" y="0"/>
                  </a:lnTo>
                  <a:lnTo>
                    <a:pt x="18288000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3981" r="0" b="-3981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10134600"/>
            <a:ext cx="3898078" cy="152400"/>
            <a:chOff x="0" y="0"/>
            <a:chExt cx="5197437" cy="2032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197475" cy="203200"/>
            </a:xfrm>
            <a:custGeom>
              <a:avLst/>
              <a:gdLst/>
              <a:ahLst/>
              <a:cxnLst/>
              <a:rect r="r" b="b" t="t" l="l"/>
              <a:pathLst>
                <a:path h="203200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03200"/>
                  </a:lnTo>
                  <a:lnTo>
                    <a:pt x="0" y="203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286078" b="-18462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389922" y="10134600"/>
            <a:ext cx="3898078" cy="158248"/>
            <a:chOff x="0" y="0"/>
            <a:chExt cx="5197437" cy="21099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197475" cy="210947"/>
            </a:xfrm>
            <a:custGeom>
              <a:avLst/>
              <a:gdLst/>
              <a:ahLst/>
              <a:cxnLst/>
              <a:rect r="r" b="b" t="t" l="l"/>
              <a:pathLst>
                <a:path h="210947" w="5197475">
                  <a:moveTo>
                    <a:pt x="0" y="0"/>
                  </a:moveTo>
                  <a:lnTo>
                    <a:pt x="5197475" y="0"/>
                  </a:lnTo>
                  <a:lnTo>
                    <a:pt x="5197475" y="210947"/>
                  </a:lnTo>
                  <a:lnTo>
                    <a:pt x="0" y="2109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-300882" b="-18488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538220" y="9058418"/>
            <a:ext cx="2048723" cy="898484"/>
            <a:chOff x="0" y="0"/>
            <a:chExt cx="2731630" cy="119797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731643" cy="1197991"/>
            </a:xfrm>
            <a:custGeom>
              <a:avLst/>
              <a:gdLst/>
              <a:ahLst/>
              <a:cxnLst/>
              <a:rect r="r" b="b" t="t" l="l"/>
              <a:pathLst>
                <a:path h="1197991" w="2731643">
                  <a:moveTo>
                    <a:pt x="0" y="0"/>
                  </a:moveTo>
                  <a:lnTo>
                    <a:pt x="2731643" y="0"/>
                  </a:lnTo>
                  <a:lnTo>
                    <a:pt x="2731643" y="1197991"/>
                  </a:lnTo>
                  <a:lnTo>
                    <a:pt x="0" y="119799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72571" t="-164491" r="-72154" b="-164855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57300" y="1343841"/>
            <a:ext cx="15773400" cy="4279106"/>
            <a:chOff x="0" y="0"/>
            <a:chExt cx="21031200" cy="570547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031200" cy="5705473"/>
            </a:xfrm>
            <a:custGeom>
              <a:avLst/>
              <a:gdLst/>
              <a:ahLst/>
              <a:cxnLst/>
              <a:rect r="r" b="b" t="t" l="l"/>
              <a:pathLst>
                <a:path h="5705473" w="21031200">
                  <a:moveTo>
                    <a:pt x="0" y="0"/>
                  </a:moveTo>
                  <a:lnTo>
                    <a:pt x="21031200" y="0"/>
                  </a:lnTo>
                  <a:lnTo>
                    <a:pt x="21031200" y="5705473"/>
                  </a:lnTo>
                  <a:lnTo>
                    <a:pt x="0" y="5705473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21824" r="0" b="-21824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57150"/>
              <a:ext cx="21031200" cy="5648324"/>
            </a:xfrm>
            <a:prstGeom prst="rect">
              <a:avLst/>
            </a:prstGeom>
          </p:spPr>
          <p:txBody>
            <a:bodyPr anchor="b" rtlCol="false" tIns="0" lIns="0" bIns="0" rIns="0"/>
            <a:lstStyle/>
            <a:p>
              <a:pPr algn="ctr">
                <a:lnSpc>
                  <a:spcPts val="5832"/>
                </a:lnSpc>
              </a:pPr>
              <a:r>
                <a:rPr lang="en-US" sz="5400" b="true">
                  <a:solidFill>
                    <a:srgbClr val="7D1916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THANK YOU!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204016" y="9427016"/>
            <a:ext cx="826684" cy="566137"/>
            <a:chOff x="0" y="0"/>
            <a:chExt cx="1102246" cy="75485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102242" cy="754852"/>
            </a:xfrm>
            <a:custGeom>
              <a:avLst/>
              <a:gdLst/>
              <a:ahLst/>
              <a:cxnLst/>
              <a:rect r="r" b="b" t="t" l="l"/>
              <a:pathLst>
                <a:path h="754852" w="1102242">
                  <a:moveTo>
                    <a:pt x="0" y="0"/>
                  </a:moveTo>
                  <a:lnTo>
                    <a:pt x="1102242" y="0"/>
                  </a:lnTo>
                  <a:lnTo>
                    <a:pt x="1102242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-37866" t="0" r="-37866" b="0"/>
              </a:stretch>
            </a:blipFill>
          </p:spPr>
        </p:sp>
        <p:sp>
          <p:nvSpPr>
            <p:cNvPr name="TextBox 15" id="15"/>
            <p:cNvSpPr txBox="true"/>
            <p:nvPr/>
          </p:nvSpPr>
          <p:spPr>
            <a:xfrm>
              <a:off x="0" y="0"/>
              <a:ext cx="1102246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 b="true">
                  <a:solidFill>
                    <a:srgbClr val="808080"/>
                  </a:solidFill>
                  <a:latin typeface="Helvetica World Bold"/>
                  <a:ea typeface="Helvetica World Bold"/>
                  <a:cs typeface="Helvetica World Bold"/>
                  <a:sym typeface="Helvetica World Bold"/>
                </a:rPr>
                <a:t>|</a:t>
              </a: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  2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887200" y="9427007"/>
            <a:ext cx="4316816" cy="566137"/>
            <a:chOff x="0" y="0"/>
            <a:chExt cx="5755754" cy="75485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755756" cy="754852"/>
            </a:xfrm>
            <a:custGeom>
              <a:avLst/>
              <a:gdLst/>
              <a:ahLst/>
              <a:cxnLst/>
              <a:rect r="r" b="b" t="t" l="l"/>
              <a:pathLst>
                <a:path h="754852" w="5755756">
                  <a:moveTo>
                    <a:pt x="0" y="0"/>
                  </a:moveTo>
                  <a:lnTo>
                    <a:pt x="5755756" y="0"/>
                  </a:lnTo>
                  <a:lnTo>
                    <a:pt x="5755756" y="754852"/>
                  </a:lnTo>
                  <a:lnTo>
                    <a:pt x="0" y="754852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l="0" t="-98573" r="0" b="-98573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0"/>
              <a:ext cx="5755754" cy="7548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r">
                <a:lnSpc>
                  <a:spcPts val="2160"/>
                </a:lnSpc>
              </a:pPr>
              <a:r>
                <a:rPr lang="en-US" sz="1800">
                  <a:solidFill>
                    <a:srgbClr val="808080"/>
                  </a:solidFill>
                  <a:latin typeface="Helvetica World"/>
                  <a:ea typeface="Helvetica World"/>
                  <a:cs typeface="Helvetica World"/>
                  <a:sym typeface="Helvetica World"/>
                </a:rPr>
                <a:t>01/07/19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DAHAKoxpQ8I</dc:identifier>
  <dcterms:modified xsi:type="dcterms:W3CDTF">2011-08-01T06:04:30Z</dcterms:modified>
  <cp:revision>1</cp:revision>
  <dc:title>Probabilistic Models and Assumptions</dc:title>
</cp:coreProperties>
</file>