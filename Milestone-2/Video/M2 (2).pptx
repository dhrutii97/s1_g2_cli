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World Bold" charset="1" panose="020B0800040000020004"/>
      <p:regular r:id="rId19"/>
    </p:embeddedFont>
    <p:embeddedFont>
      <p:font typeface="Helvetica World" charset="1" panose="020B0500040000020004"/>
      <p:regular r:id="rId20"/>
    </p:embeddedFont>
    <p:embeddedFont>
      <p:font typeface="Arimo Bold" charset="1" panose="020B0704020202020204"/>
      <p:regular r:id="rId21"/>
    </p:embeddedFont>
    <p:embeddedFont>
      <p:font typeface="Arimo" charset="1" panose="020B0604020202020204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  <p:embeddedFont>
      <p:font typeface="Canva Sans Bold Italics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46422" y="1127274"/>
            <a:ext cx="5893203" cy="1999859"/>
            <a:chOff x="0" y="0"/>
            <a:chExt cx="7857604" cy="266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57617" cy="2666492"/>
            </a:xfrm>
            <a:custGeom>
              <a:avLst/>
              <a:gdLst/>
              <a:ahLst/>
              <a:cxnLst/>
              <a:rect r="r" b="b" t="t" l="l"/>
              <a:pathLst>
                <a:path h="2666492" w="7857617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935" t="-264896" r="-89066" b="-26541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5625" y="3585694"/>
            <a:ext cx="15774000" cy="2359575"/>
            <a:chOff x="0" y="0"/>
            <a:chExt cx="21032000" cy="3146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2000" cy="3146100"/>
            </a:xfrm>
            <a:custGeom>
              <a:avLst/>
              <a:gdLst/>
              <a:ahLst/>
              <a:cxnLst/>
              <a:rect r="r" b="b" t="t" l="l"/>
              <a:pathLst>
                <a:path h="3146100" w="21032000">
                  <a:moveTo>
                    <a:pt x="0" y="0"/>
                  </a:moveTo>
                  <a:lnTo>
                    <a:pt x="21032000" y="0"/>
                  </a:lnTo>
                  <a:lnTo>
                    <a:pt x="21032000" y="3146100"/>
                  </a:lnTo>
                  <a:lnTo>
                    <a:pt x="0" y="3146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98" r="0" b="-589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1032000" cy="3069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GROUP 2: CLIMATE</a:t>
              </a:r>
            </a:p>
            <a:p>
              <a:pPr algn="l">
                <a:lnSpc>
                  <a:spcPts val="5076"/>
                </a:lnSpc>
              </a:pPr>
              <a:r>
                <a:rPr lang="en-US" sz="47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Probabilistic Forecasting of Extreme Weather Events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65625" y="6377859"/>
            <a:ext cx="5737047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5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Shlok Shah</a:t>
            </a:r>
          </a:p>
          <a:p>
            <a:pPr algn="l">
              <a:lnSpc>
                <a:spcPts val="3041"/>
              </a:lnSpc>
            </a:pPr>
            <a:r>
              <a:rPr lang="en-US" sz="25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Abhi Jain</a:t>
            </a:r>
          </a:p>
          <a:p>
            <a:pPr algn="l">
              <a:lnSpc>
                <a:spcPts val="3041"/>
              </a:lnSpc>
            </a:pPr>
            <a:r>
              <a:rPr lang="en-US" sz="25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Dhruti Kobawala</a:t>
            </a:r>
          </a:p>
          <a:p>
            <a:pPr algn="l">
              <a:lnSpc>
                <a:spcPts val="3041"/>
              </a:lnSpc>
            </a:pPr>
            <a:r>
              <a:rPr lang="en-US" sz="25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Prarthana Gajera</a:t>
            </a:r>
          </a:p>
          <a:p>
            <a:pPr algn="l">
              <a:lnSpc>
                <a:spcPts val="3041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Pearl Patel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8220" y="310055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Context and  Motivation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-203016" y="3596217"/>
            <a:ext cx="13299268" cy="721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290" indent="-405645" lvl="1">
              <a:lnSpc>
                <a:spcPts val="4509"/>
              </a:lnSpc>
              <a:buFont typeface="Arial"/>
              <a:buChar char="•"/>
            </a:pPr>
            <a:r>
              <a:rPr lang="en-US" sz="375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Traditional forecasts provide a single predicted value.</a:t>
            </a:r>
          </a:p>
          <a:p>
            <a:pPr algn="l" marL="811290" indent="-405645" lvl="1">
              <a:lnSpc>
                <a:spcPts val="4509"/>
              </a:lnSpc>
              <a:buFont typeface="Arial"/>
              <a:buChar char="•"/>
            </a:pPr>
            <a:r>
              <a:rPr lang="en-US" sz="375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Extreme weather events like heavy rainfall, storms are rare        but high impact.</a:t>
            </a:r>
          </a:p>
          <a:p>
            <a:pPr algn="l" marL="811290" indent="-405645" lvl="1">
              <a:lnSpc>
                <a:spcPts val="4509"/>
              </a:lnSpc>
              <a:buFont typeface="Arial"/>
              <a:buChar char="•"/>
            </a:pPr>
            <a:r>
              <a:rPr lang="en-US" sz="375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atmosphere behaves as a chaotic dynamical system.</a:t>
            </a:r>
          </a:p>
          <a:p>
            <a:pPr algn="l" marL="811290" indent="-405645" lvl="1">
              <a:lnSpc>
                <a:spcPts val="4509"/>
              </a:lnSpc>
              <a:buFont typeface="Arial"/>
              <a:buChar char="•"/>
            </a:pPr>
            <a:r>
              <a:rPr lang="en-US" sz="375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Small errors in initial conditions can grow significantly over time.</a:t>
            </a:r>
          </a:p>
          <a:p>
            <a:pPr algn="l" marL="811290" indent="-405645" lvl="1">
              <a:lnSpc>
                <a:spcPts val="4509"/>
              </a:lnSpc>
              <a:buFont typeface="Arial"/>
              <a:buChar char="•"/>
            </a:pPr>
            <a:r>
              <a:rPr lang="en-US" sz="375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Deterministic prediction alone is insufficient for risk-sensitive decisions.</a:t>
            </a:r>
          </a:p>
          <a:p>
            <a:pPr algn="l" marL="811290" indent="-405645" lvl="1">
              <a:lnSpc>
                <a:spcPts val="4509"/>
              </a:lnSpc>
              <a:buFont typeface="Arial"/>
              <a:buChar char="•"/>
            </a:pPr>
            <a:r>
              <a:rPr lang="en-US" sz="375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Hence, we adopt a probabilistic framework to reduce the uncertainty.</a:t>
            </a:r>
          </a:p>
          <a:p>
            <a:pPr algn="ctr">
              <a:lnSpc>
                <a:spcPts val="5436"/>
              </a:lnSpc>
            </a:pPr>
          </a:p>
          <a:p>
            <a:pPr algn="ctr">
              <a:lnSpc>
                <a:spcPts val="3437"/>
              </a:lnSpc>
            </a:pPr>
          </a:p>
          <a:p>
            <a:pPr algn="ctr">
              <a:lnSpc>
                <a:spcPts val="3035"/>
              </a:lnSpc>
              <a:spcBef>
                <a:spcPct val="0"/>
              </a:spcBef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436830" y="2778363"/>
            <a:ext cx="4851170" cy="5396622"/>
          </a:xfrm>
          <a:custGeom>
            <a:avLst/>
            <a:gdLst/>
            <a:ahLst/>
            <a:cxnLst/>
            <a:rect r="r" b="b" t="t" l="l"/>
            <a:pathLst>
              <a:path h="5396622" w="4851170">
                <a:moveTo>
                  <a:pt x="0" y="0"/>
                </a:moveTo>
                <a:lnTo>
                  <a:pt x="4851170" y="0"/>
                </a:lnTo>
                <a:lnTo>
                  <a:pt x="4851170" y="5396622"/>
                </a:lnTo>
                <a:lnTo>
                  <a:pt x="0" y="5396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997" t="0" r="-5997" b="-1251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0" y="2070984"/>
            <a:ext cx="12893236" cy="120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6"/>
              </a:lnSpc>
              <a:spcBef>
                <a:spcPct val="0"/>
              </a:spcBef>
            </a:pPr>
            <a:r>
              <a:rPr lang="en-US" b="true" sz="377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</a:t>
            </a:r>
            <a:r>
              <a:rPr lang="en-US" sz="377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77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Probabilistic Modeling of Extreme Weather Events for Risk-Informed Decision Support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53510" y="8341636"/>
            <a:ext cx="437507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https://en.wikipedia.org/wiki/Lorenz_system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38225" y="310161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Objective and Scope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2421495"/>
            <a:ext cx="9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17890" y="2350913"/>
            <a:ext cx="13329039" cy="670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4"/>
              </a:lnSpc>
              <a:spcBef>
                <a:spcPct val="0"/>
              </a:spcBef>
            </a:pPr>
            <a:r>
              <a:rPr lang="en-US" b="true" sz="395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</a:t>
            </a:r>
            <a:r>
              <a:rPr lang="en-US" sz="395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:- To Estimate the probability of an extreme event exceeding a threshold, P(X&gt;τ), where X represents atmospheric variables and τ is the extreme threshold.</a:t>
            </a:r>
          </a:p>
          <a:p>
            <a:pPr algn="l">
              <a:lnSpc>
                <a:spcPts val="4744"/>
              </a:lnSpc>
              <a:spcBef>
                <a:spcPct val="0"/>
              </a:spcBef>
            </a:pPr>
          </a:p>
          <a:p>
            <a:pPr algn="l">
              <a:lnSpc>
                <a:spcPts val="4744"/>
              </a:lnSpc>
              <a:spcBef>
                <a:spcPct val="0"/>
              </a:spcBef>
            </a:pPr>
            <a:r>
              <a:rPr lang="en-US" b="true" sz="395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Scope</a:t>
            </a:r>
            <a:r>
              <a:rPr lang="en-US" sz="395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:- • Use ensemble forecasting to capture uncertainty.</a:t>
            </a:r>
          </a:p>
          <a:p>
            <a:pPr algn="l" marL="853622" indent="-426811" lvl="1">
              <a:lnSpc>
                <a:spcPts val="4744"/>
              </a:lnSpc>
              <a:spcBef>
                <a:spcPct val="0"/>
              </a:spcBef>
              <a:buFont typeface="Arial"/>
              <a:buChar char="•"/>
            </a:pPr>
            <a:r>
              <a:rPr lang="en-US" sz="395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Fit probability distributions to model variability.</a:t>
            </a:r>
          </a:p>
          <a:p>
            <a:pPr algn="l" marL="853622" indent="-426811" lvl="1">
              <a:lnSpc>
                <a:spcPts val="4744"/>
              </a:lnSpc>
              <a:spcBef>
                <a:spcPct val="0"/>
              </a:spcBef>
              <a:buFont typeface="Arial"/>
              <a:buChar char="•"/>
            </a:pPr>
            <a:r>
              <a:rPr lang="en-US" sz="395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Define extreme threshold using inverse CDF.</a:t>
            </a:r>
          </a:p>
          <a:p>
            <a:pPr algn="l" marL="853622" indent="-426811" lvl="1">
              <a:lnSpc>
                <a:spcPts val="4744"/>
              </a:lnSpc>
              <a:spcBef>
                <a:spcPct val="0"/>
              </a:spcBef>
              <a:buFont typeface="Arial"/>
              <a:buChar char="•"/>
            </a:pPr>
            <a:r>
              <a:rPr lang="en-US" sz="395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Apply Bayesian inference to estimate event likelihoods.</a:t>
            </a:r>
          </a:p>
          <a:p>
            <a:pPr algn="l" marL="853622" indent="-426811" lvl="1">
              <a:lnSpc>
                <a:spcPts val="4744"/>
              </a:lnSpc>
              <a:spcBef>
                <a:spcPct val="0"/>
              </a:spcBef>
              <a:buFont typeface="Arial"/>
              <a:buChar char="•"/>
            </a:pPr>
            <a:r>
              <a:rPr lang="en-US" sz="395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Provide probabilistic risk output instead of a single forecast.</a:t>
            </a:r>
          </a:p>
          <a:p>
            <a:pPr algn="l">
              <a:lnSpc>
                <a:spcPts val="4744"/>
              </a:lnSpc>
              <a:spcBef>
                <a:spcPct val="0"/>
              </a:spcBef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045608" y="3071225"/>
            <a:ext cx="4041867" cy="3497192"/>
          </a:xfrm>
          <a:custGeom>
            <a:avLst/>
            <a:gdLst/>
            <a:ahLst/>
            <a:cxnLst/>
            <a:rect r="r" b="b" t="t" l="l"/>
            <a:pathLst>
              <a:path h="3497192" w="4041867">
                <a:moveTo>
                  <a:pt x="0" y="0"/>
                </a:moveTo>
                <a:lnTo>
                  <a:pt x="4041867" y="0"/>
                </a:lnTo>
                <a:lnTo>
                  <a:pt x="4041867" y="3497192"/>
                </a:lnTo>
                <a:lnTo>
                  <a:pt x="0" y="3497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293" t="0" r="-1490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420011" y="6810953"/>
            <a:ext cx="481155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https://en.wikipedia.org/wiki/Normal_distribution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10161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System Overview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607568" y="3799161"/>
            <a:ext cx="7564709" cy="4283516"/>
          </a:xfrm>
          <a:custGeom>
            <a:avLst/>
            <a:gdLst/>
            <a:ahLst/>
            <a:cxnLst/>
            <a:rect r="r" b="b" t="t" l="l"/>
            <a:pathLst>
              <a:path h="4283516" w="7564709">
                <a:moveTo>
                  <a:pt x="0" y="0"/>
                </a:moveTo>
                <a:lnTo>
                  <a:pt x="7564709" y="0"/>
                </a:lnTo>
                <a:lnTo>
                  <a:pt x="7564709" y="4283517"/>
                </a:lnTo>
                <a:lnTo>
                  <a:pt x="0" y="4283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747239"/>
            <a:ext cx="11400830" cy="552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2"/>
              </a:lnSpc>
            </a:pPr>
            <a:r>
              <a:rPr lang="en-US" sz="397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Our probabilistic pipeline includes</a:t>
            </a:r>
            <a:r>
              <a:rPr lang="en-US" sz="39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  <a:p>
            <a:pPr algn="l" marL="858596" indent="-429298" lvl="1">
              <a:lnSpc>
                <a:spcPts val="4772"/>
              </a:lnSpc>
              <a:buAutoNum type="arabicPeriod" startAt="1"/>
            </a:pPr>
            <a:r>
              <a:rPr lang="en-US" sz="39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Collect ensemble and historical data</a:t>
            </a:r>
          </a:p>
          <a:p>
            <a:pPr algn="l" marL="858596" indent="-429298" lvl="1">
              <a:lnSpc>
                <a:spcPts val="4772"/>
              </a:lnSpc>
              <a:buAutoNum type="arabicPeriod" startAt="1"/>
            </a:pPr>
            <a:r>
              <a:rPr lang="en-US" sz="39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uncertainty using probability distributions</a:t>
            </a:r>
          </a:p>
          <a:p>
            <a:pPr algn="l" marL="858596" indent="-429298" lvl="1">
              <a:lnSpc>
                <a:spcPts val="4772"/>
              </a:lnSpc>
              <a:buAutoNum type="arabicPeriod" startAt="1"/>
            </a:pPr>
            <a:r>
              <a:rPr lang="en-US" sz="39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Define extreme threshold τ</a:t>
            </a:r>
          </a:p>
          <a:p>
            <a:pPr algn="l" marL="858596" indent="-429298" lvl="1">
              <a:lnSpc>
                <a:spcPts val="4772"/>
              </a:lnSpc>
              <a:buAutoNum type="arabicPeriod" startAt="1"/>
            </a:pPr>
            <a:r>
              <a:rPr lang="en-US" sz="39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Perform Bayesian parameter updating</a:t>
            </a:r>
          </a:p>
          <a:p>
            <a:pPr algn="l" marL="858596" indent="-429298" lvl="1">
              <a:lnSpc>
                <a:spcPts val="4772"/>
              </a:lnSpc>
              <a:buAutoNum type="arabicPeriod" startAt="1"/>
            </a:pPr>
            <a:r>
              <a:rPr lang="en-US" sz="39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Aggregate ensemble probabilities</a:t>
            </a:r>
          </a:p>
          <a:p>
            <a:pPr algn="l" marL="858596" indent="-429298" lvl="1">
              <a:lnSpc>
                <a:spcPts val="4772"/>
              </a:lnSpc>
              <a:buAutoNum type="arabicPeriod" startAt="1"/>
            </a:pPr>
            <a:r>
              <a:rPr lang="en-US" sz="39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Compute final risk estimate</a:t>
            </a:r>
          </a:p>
          <a:p>
            <a:pPr algn="l">
              <a:lnSpc>
                <a:spcPts val="4772"/>
              </a:lnSpc>
            </a:pPr>
            <a:r>
              <a:rPr lang="en-US" sz="3976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Final Output</a:t>
            </a:r>
            <a:r>
              <a:rPr lang="en-US" sz="39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  <a:p>
            <a:pPr algn="l">
              <a:lnSpc>
                <a:spcPts val="4772"/>
              </a:lnSpc>
              <a:spcBef>
                <a:spcPct val="0"/>
              </a:spcBef>
            </a:pPr>
            <a:r>
              <a:rPr lang="en-US" sz="397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P(X&gt;τ∣D)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67761" y="7949328"/>
            <a:ext cx="469153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https://en.wikipedia.org/wiki/Bayesian_network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10161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Sources of Uncertainty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1956913"/>
            <a:ext cx="15773400" cy="850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9164" indent="-409582" lvl="1">
              <a:lnSpc>
                <a:spcPts val="4553"/>
              </a:lnSpc>
              <a:buFont typeface="Arial"/>
              <a:buChar char="•"/>
            </a:pPr>
            <a:r>
              <a:rPr lang="en-US" b="true" sz="379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Initial Condition Uncertainty</a:t>
            </a:r>
            <a:r>
              <a:rPr lang="en-US" sz="379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– Imperfect atmospheric measurements</a:t>
            </a:r>
          </a:p>
          <a:p>
            <a:pPr algn="l">
              <a:lnSpc>
                <a:spcPts val="4553"/>
              </a:lnSpc>
            </a:pPr>
          </a:p>
          <a:p>
            <a:pPr algn="l" marL="819164" indent="-409582" lvl="1">
              <a:lnSpc>
                <a:spcPts val="4553"/>
              </a:lnSpc>
              <a:buFont typeface="Arial"/>
              <a:buChar char="•"/>
            </a:pPr>
            <a:r>
              <a:rPr lang="en-US" b="true" sz="379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 Uncertainty</a:t>
            </a:r>
            <a:r>
              <a:rPr lang="en-US" sz="379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– Approximations in physical parameterization</a:t>
            </a:r>
          </a:p>
          <a:p>
            <a:pPr algn="l">
              <a:lnSpc>
                <a:spcPts val="4553"/>
              </a:lnSpc>
            </a:pPr>
          </a:p>
          <a:p>
            <a:pPr algn="l" marL="819164" indent="-409582" lvl="1">
              <a:lnSpc>
                <a:spcPts val="4553"/>
              </a:lnSpc>
              <a:buFont typeface="Arial"/>
              <a:buChar char="•"/>
            </a:pPr>
            <a:r>
              <a:rPr lang="en-US" b="true" sz="379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Environmental Variabilit</a:t>
            </a:r>
            <a:r>
              <a:rPr lang="en-US" sz="379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– Natural randomness in weather evolution</a:t>
            </a:r>
          </a:p>
          <a:p>
            <a:pPr algn="l">
              <a:lnSpc>
                <a:spcPts val="4553"/>
              </a:lnSpc>
            </a:pPr>
          </a:p>
          <a:p>
            <a:pPr algn="l" marL="819164" indent="-409582" lvl="1">
              <a:lnSpc>
                <a:spcPts val="4553"/>
              </a:lnSpc>
              <a:buFont typeface="Arial"/>
              <a:buChar char="•"/>
            </a:pPr>
            <a:r>
              <a:rPr lang="en-US" b="true" sz="379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Uncertainty</a:t>
            </a:r>
            <a:r>
              <a:rPr lang="en-US" sz="379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– Limited records of extreme events</a:t>
            </a:r>
          </a:p>
          <a:p>
            <a:pPr algn="l">
              <a:lnSpc>
                <a:spcPts val="3233"/>
              </a:lnSpc>
            </a:pPr>
          </a:p>
          <a:p>
            <a:pPr algn="l">
              <a:lnSpc>
                <a:spcPts val="3233"/>
              </a:lnSpc>
            </a:pPr>
          </a:p>
          <a:p>
            <a:pPr algn="l">
              <a:lnSpc>
                <a:spcPts val="2902"/>
              </a:lnSpc>
            </a:pPr>
          </a:p>
          <a:p>
            <a:pPr algn="l">
              <a:lnSpc>
                <a:spcPts val="2902"/>
              </a:lnSpc>
            </a:pPr>
          </a:p>
          <a:p>
            <a:pPr algn="l">
              <a:lnSpc>
                <a:spcPts val="2902"/>
              </a:lnSpc>
            </a:pPr>
          </a:p>
          <a:p>
            <a:pPr algn="l">
              <a:lnSpc>
                <a:spcPts val="2902"/>
              </a:lnSpc>
            </a:pPr>
          </a:p>
          <a:p>
            <a:pPr algn="l">
              <a:lnSpc>
                <a:spcPts val="2902"/>
              </a:lnSpc>
            </a:pPr>
          </a:p>
          <a:p>
            <a:pPr algn="l">
              <a:lnSpc>
                <a:spcPts val="2902"/>
              </a:lnSpc>
            </a:pPr>
          </a:p>
          <a:p>
            <a:pPr algn="l">
              <a:lnSpc>
                <a:spcPts val="2902"/>
              </a:lnSpc>
            </a:pPr>
          </a:p>
          <a:p>
            <a:pPr algn="l">
              <a:lnSpc>
                <a:spcPts val="29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0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Random Variables and Their Roles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538220" y="1028700"/>
          <a:ext cx="16929506" cy="8667750"/>
        </p:xfrm>
        <a:graphic>
          <a:graphicData uri="http://schemas.openxmlformats.org/drawingml/2006/table">
            <a:tbl>
              <a:tblPr/>
              <a:tblGrid>
                <a:gridCol w="3954558"/>
                <a:gridCol w="3084460"/>
                <a:gridCol w="4708838"/>
                <a:gridCol w="5181650"/>
              </a:tblGrid>
              <a:tr h="14924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Notation</a:t>
                      </a:r>
                      <a:endParaRPr lang="en-US" sz="1100"/>
                    </a:p>
                    <a:p>
                      <a:pPr algn="l">
                        <a:lnSpc>
                          <a:spcPts val="36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Distribution / Role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Interpretation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Variable</a:t>
                      </a: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1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 = (H, P, W, R)</a:t>
                      </a:r>
                      <a:endParaRPr lang="en-US" sz="1100"/>
                    </a:p>
                    <a:p>
                      <a:pPr algn="l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Joint dist. f_X(h,p,w,r)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Gamma / GEV for rainfall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Core input driving extreme event probability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Atmospheric State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02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X⁽¹⁾, …, X⁽ᴹ⁾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Samples from atmospheric distribution; conditionally independent</a:t>
                      </a:r>
                      <a:endParaRPr lang="en-US" sz="1100"/>
                    </a:p>
                    <a:p>
                      <a:pPr algn="l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Represent forecast spread and uncertainty</a:t>
                      </a:r>
                      <a:endParaRPr lang="en-US" sz="1100"/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Ensemble Members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37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Y ~ Bernoulli(p)</a:t>
                      </a:r>
                      <a:endParaRPr lang="en-US" sz="1100"/>
                    </a:p>
                    <a:p>
                      <a:pPr algn="l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Y = 1 if X &gt; τ, else 0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 = P(X &gt; τ)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Binary outcome: extreme event occurred or not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Extreme Event Indicator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07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θ (e.g., β in logistic)</a:t>
                      </a:r>
                      <a:endParaRPr lang="en-US" sz="1100"/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Prior: β ~ N(μ, Σ)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Posterior via Bayes update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Quantifies parameter uncertainty via Bayesian framework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Model Parameters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8564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ε ~ N(0, σ²ₒ)</a:t>
                      </a:r>
                      <a:endParaRPr lang="en-US" sz="1100"/>
                    </a:p>
                    <a:p>
                      <a:pPr algn="just">
                        <a:lnSpc>
                          <a:spcPts val="321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Added to convective tendencies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φˢᵗᵒᶜʰ = φ̄ + ε</a:t>
                      </a:r>
                    </a:p>
                    <a:p>
                      <a:pPr algn="ctr">
                        <a:lnSpc>
                          <a:spcPts val="27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Models sub-grid model error in ensemble members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Stochastic Perturbation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586942" y="540241"/>
            <a:ext cx="12861419" cy="1437078"/>
            <a:chOff x="0" y="0"/>
            <a:chExt cx="17148558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48558" cy="1916104"/>
            </a:xfrm>
            <a:custGeom>
              <a:avLst/>
              <a:gdLst/>
              <a:ahLst/>
              <a:cxnLst/>
              <a:rect r="r" b="b" t="t" l="l"/>
              <a:pathLst>
                <a:path h="1916104" w="17148558">
                  <a:moveTo>
                    <a:pt x="0" y="0"/>
                  </a:moveTo>
                  <a:lnTo>
                    <a:pt x="17148558" y="0"/>
                  </a:lnTo>
                  <a:lnTo>
                    <a:pt x="17148558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2641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17148558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Probabilistic Models and Assumptions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0" y="1977319"/>
            <a:ext cx="18288000" cy="0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9144000" y="2379726"/>
            <a:ext cx="0" cy="7754874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9144000" y="1977319"/>
            <a:ext cx="0" cy="402407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834050" y="1888554"/>
            <a:ext cx="575214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Bayesian Framework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17652" y="1888554"/>
            <a:ext cx="962451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Ensemble + Distribution Models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3321399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P(θ | D) = P(D | θ) · P(θ) / P(D)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8295" y="2633500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Bayes’ Theorem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4521" y="4020185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Posterior Predictive: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8295" y="4714875"/>
            <a:ext cx="702365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P(X_future &gt; τ | D) = ∫ P(X &gt; τ | θ) · P(θ|D) dθ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009640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Extreme Indicator: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8295" y="6799580"/>
            <a:ext cx="73628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P(Y=1 | X) = 1 / [1 + exp(−(β₀ + βᵀX))]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7589520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Prior: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1910" y="8379460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β ~ Normal(μ, Σ)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09182" y="2688653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Ensemble Aggregation: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09182" y="4135183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PDF/CDF for threshold: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09182" y="4771955"/>
            <a:ext cx="702365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f(x) = d/dx F(x)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F(x) = P(X ≤ x)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τ = F⁻¹(1 − α)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09182" y="6652508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Empirical Estimator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07043" y="3411918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P(E) = Σ wᵢ · P(E | Mᵢ) where Σ wᵢ = 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09182" y="7332910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p̂ = (1/n) Σ I(Xᵢ &gt; τ)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09182" y="7970450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Fitted Distributions: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09182" y="8636318"/>
            <a:ext cx="70236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Normal, Gamma, Lognormal, GEV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85900" y="0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Probabilistic Reasoning and Inference Logic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69401" y="1437078"/>
            <a:ext cx="4923380" cy="3372520"/>
            <a:chOff x="0" y="0"/>
            <a:chExt cx="1296693" cy="8882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6693" cy="888236"/>
            </a:xfrm>
            <a:custGeom>
              <a:avLst/>
              <a:gdLst/>
              <a:ahLst/>
              <a:cxnLst/>
              <a:rect r="r" b="b" t="t" l="l"/>
              <a:pathLst>
                <a:path h="888236" w="1296693">
                  <a:moveTo>
                    <a:pt x="80197" y="0"/>
                  </a:moveTo>
                  <a:lnTo>
                    <a:pt x="1216496" y="0"/>
                  </a:lnTo>
                  <a:cubicBezTo>
                    <a:pt x="1260787" y="0"/>
                    <a:pt x="1296693" y="35905"/>
                    <a:pt x="1296693" y="80197"/>
                  </a:cubicBezTo>
                  <a:lnTo>
                    <a:pt x="1296693" y="808039"/>
                  </a:lnTo>
                  <a:cubicBezTo>
                    <a:pt x="1296693" y="829308"/>
                    <a:pt x="1288243" y="849707"/>
                    <a:pt x="1273204" y="864747"/>
                  </a:cubicBezTo>
                  <a:cubicBezTo>
                    <a:pt x="1258164" y="879786"/>
                    <a:pt x="1237766" y="888236"/>
                    <a:pt x="1216496" y="888236"/>
                  </a:cubicBezTo>
                  <a:lnTo>
                    <a:pt x="80197" y="888236"/>
                  </a:lnTo>
                  <a:cubicBezTo>
                    <a:pt x="35905" y="888236"/>
                    <a:pt x="0" y="852330"/>
                    <a:pt x="0" y="808039"/>
                  </a:cubicBezTo>
                  <a:lnTo>
                    <a:pt x="0" y="80197"/>
                  </a:lnTo>
                  <a:cubicBezTo>
                    <a:pt x="0" y="35905"/>
                    <a:pt x="35905" y="0"/>
                    <a:pt x="80197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296693" cy="88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88918" y="2564235"/>
            <a:ext cx="4484347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X⁽¹⁾,...,X⁽ᴹ⁾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represent plausible atmospheric states. Spread = uncertainty signal.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88918" y="1742941"/>
            <a:ext cx="573644" cy="573644"/>
            <a:chOff x="0" y="0"/>
            <a:chExt cx="764858" cy="76485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64858" cy="764858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38506" y="-12042"/>
              <a:ext cx="287846" cy="722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6"/>
                </a:lnSpc>
              </a:pPr>
              <a:r>
                <a:rPr lang="en-US" b="true" sz="3226">
                  <a:solidFill>
                    <a:srgbClr val="7D191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171130" y="1736196"/>
            <a:ext cx="366974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Ensemble Spread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682310" y="1437078"/>
            <a:ext cx="4923380" cy="3372520"/>
            <a:chOff x="0" y="0"/>
            <a:chExt cx="1296693" cy="8882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96693" cy="888236"/>
            </a:xfrm>
            <a:custGeom>
              <a:avLst/>
              <a:gdLst/>
              <a:ahLst/>
              <a:cxnLst/>
              <a:rect r="r" b="b" t="t" l="l"/>
              <a:pathLst>
                <a:path h="888236" w="1296693">
                  <a:moveTo>
                    <a:pt x="80197" y="0"/>
                  </a:moveTo>
                  <a:lnTo>
                    <a:pt x="1216496" y="0"/>
                  </a:lnTo>
                  <a:cubicBezTo>
                    <a:pt x="1260787" y="0"/>
                    <a:pt x="1296693" y="35905"/>
                    <a:pt x="1296693" y="80197"/>
                  </a:cubicBezTo>
                  <a:lnTo>
                    <a:pt x="1296693" y="808039"/>
                  </a:lnTo>
                  <a:cubicBezTo>
                    <a:pt x="1296693" y="829308"/>
                    <a:pt x="1288243" y="849707"/>
                    <a:pt x="1273204" y="864747"/>
                  </a:cubicBezTo>
                  <a:cubicBezTo>
                    <a:pt x="1258164" y="879786"/>
                    <a:pt x="1237766" y="888236"/>
                    <a:pt x="1216496" y="888236"/>
                  </a:cubicBezTo>
                  <a:lnTo>
                    <a:pt x="80197" y="888236"/>
                  </a:lnTo>
                  <a:cubicBezTo>
                    <a:pt x="35905" y="888236"/>
                    <a:pt x="0" y="852330"/>
                    <a:pt x="0" y="808039"/>
                  </a:cubicBezTo>
                  <a:lnTo>
                    <a:pt x="0" y="80197"/>
                  </a:lnTo>
                  <a:cubicBezTo>
                    <a:pt x="0" y="35905"/>
                    <a:pt x="35905" y="0"/>
                    <a:pt x="80197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296693" cy="88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901827" y="2564235"/>
            <a:ext cx="4484347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Fit GEV/Gamma to ensemble outputs. Estimate parameters θ via MLE or Bayesian posterior.</a:t>
            </a:r>
          </a:p>
          <a:p>
            <a:pPr algn="ctr">
              <a:lnSpc>
                <a:spcPts val="3640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6901827" y="1742941"/>
            <a:ext cx="573644" cy="573644"/>
            <a:chOff x="0" y="0"/>
            <a:chExt cx="764858" cy="76485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764858" cy="764858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238506" y="-12042"/>
              <a:ext cx="287846" cy="722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6"/>
                </a:lnSpc>
              </a:pPr>
              <a:r>
                <a:rPr lang="en-US" sz="3226" b="true">
                  <a:solidFill>
                    <a:srgbClr val="7D191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580245" y="1736196"/>
            <a:ext cx="3210401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Fit Distribution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928232" y="1437078"/>
            <a:ext cx="4923380" cy="3372520"/>
            <a:chOff x="0" y="0"/>
            <a:chExt cx="1296693" cy="8882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96693" cy="888236"/>
            </a:xfrm>
            <a:custGeom>
              <a:avLst/>
              <a:gdLst/>
              <a:ahLst/>
              <a:cxnLst/>
              <a:rect r="r" b="b" t="t" l="l"/>
              <a:pathLst>
                <a:path h="888236" w="1296693">
                  <a:moveTo>
                    <a:pt x="80197" y="0"/>
                  </a:moveTo>
                  <a:lnTo>
                    <a:pt x="1216496" y="0"/>
                  </a:lnTo>
                  <a:cubicBezTo>
                    <a:pt x="1260787" y="0"/>
                    <a:pt x="1296693" y="35905"/>
                    <a:pt x="1296693" y="80197"/>
                  </a:cubicBezTo>
                  <a:lnTo>
                    <a:pt x="1296693" y="808039"/>
                  </a:lnTo>
                  <a:cubicBezTo>
                    <a:pt x="1296693" y="829308"/>
                    <a:pt x="1288243" y="849707"/>
                    <a:pt x="1273204" y="864747"/>
                  </a:cubicBezTo>
                  <a:cubicBezTo>
                    <a:pt x="1258164" y="879786"/>
                    <a:pt x="1237766" y="888236"/>
                    <a:pt x="1216496" y="888236"/>
                  </a:cubicBezTo>
                  <a:lnTo>
                    <a:pt x="80197" y="888236"/>
                  </a:lnTo>
                  <a:cubicBezTo>
                    <a:pt x="35905" y="888236"/>
                    <a:pt x="0" y="852330"/>
                    <a:pt x="0" y="808039"/>
                  </a:cubicBezTo>
                  <a:lnTo>
                    <a:pt x="0" y="80197"/>
                  </a:lnTo>
                  <a:cubicBezTo>
                    <a:pt x="0" y="35905"/>
                    <a:pt x="35905" y="0"/>
                    <a:pt x="80197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296693" cy="88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147749" y="2564235"/>
            <a:ext cx="4484347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τ = F⁻¹(1−α) at α = 0.05 or 0.01. Defines the extreme event region X &gt; τ.</a:t>
            </a:r>
          </a:p>
          <a:p>
            <a:pPr algn="ctr">
              <a:lnSpc>
                <a:spcPts val="3640"/>
              </a:lnSpc>
            </a:pPr>
          </a:p>
        </p:txBody>
      </p:sp>
      <p:grpSp>
        <p:nvGrpSpPr>
          <p:cNvPr name="Group 43" id="43"/>
          <p:cNvGrpSpPr/>
          <p:nvPr/>
        </p:nvGrpSpPr>
        <p:grpSpPr>
          <a:xfrm rot="0">
            <a:off x="12147749" y="1742941"/>
            <a:ext cx="573644" cy="573644"/>
            <a:chOff x="0" y="0"/>
            <a:chExt cx="764858" cy="764858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764858" cy="764858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238506" y="-12042"/>
              <a:ext cx="287846" cy="722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6"/>
                </a:lnSpc>
              </a:pPr>
              <a:r>
                <a:rPr lang="en-US" sz="3226" b="true">
                  <a:solidFill>
                    <a:srgbClr val="7D191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826168" y="1676266"/>
            <a:ext cx="3627554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 Threshold τ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107320" y="5432043"/>
            <a:ext cx="4923380" cy="3372520"/>
            <a:chOff x="0" y="0"/>
            <a:chExt cx="1296693" cy="8882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96693" cy="888236"/>
            </a:xfrm>
            <a:custGeom>
              <a:avLst/>
              <a:gdLst/>
              <a:ahLst/>
              <a:cxnLst/>
              <a:rect r="r" b="b" t="t" l="l"/>
              <a:pathLst>
                <a:path h="888236" w="1296693">
                  <a:moveTo>
                    <a:pt x="80197" y="0"/>
                  </a:moveTo>
                  <a:lnTo>
                    <a:pt x="1216496" y="0"/>
                  </a:lnTo>
                  <a:cubicBezTo>
                    <a:pt x="1260787" y="0"/>
                    <a:pt x="1296693" y="35905"/>
                    <a:pt x="1296693" y="80197"/>
                  </a:cubicBezTo>
                  <a:lnTo>
                    <a:pt x="1296693" y="808039"/>
                  </a:lnTo>
                  <a:cubicBezTo>
                    <a:pt x="1296693" y="829308"/>
                    <a:pt x="1288243" y="849707"/>
                    <a:pt x="1273204" y="864747"/>
                  </a:cubicBezTo>
                  <a:cubicBezTo>
                    <a:pt x="1258164" y="879786"/>
                    <a:pt x="1237766" y="888236"/>
                    <a:pt x="1216496" y="888236"/>
                  </a:cubicBezTo>
                  <a:lnTo>
                    <a:pt x="80197" y="888236"/>
                  </a:lnTo>
                  <a:cubicBezTo>
                    <a:pt x="35905" y="888236"/>
                    <a:pt x="0" y="852330"/>
                    <a:pt x="0" y="808039"/>
                  </a:cubicBezTo>
                  <a:lnTo>
                    <a:pt x="0" y="80197"/>
                  </a:lnTo>
                  <a:cubicBezTo>
                    <a:pt x="0" y="35905"/>
                    <a:pt x="35905" y="0"/>
                    <a:pt x="80197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296693" cy="88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2326837" y="6559199"/>
            <a:ext cx="4484347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P(X&gt;τ|D) produced with confidence bounds via Hoeffding's Inequality. Feeds risk-based decisions.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326837" y="5797835"/>
            <a:ext cx="573644" cy="573644"/>
            <a:chOff x="0" y="0"/>
            <a:chExt cx="764858" cy="764858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764858" cy="764858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238506" y="-12042"/>
              <a:ext cx="287846" cy="722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6"/>
                </a:lnSpc>
              </a:pPr>
              <a:r>
                <a:rPr lang="en-US" sz="3226" b="true">
                  <a:solidFill>
                    <a:srgbClr val="7D191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3005256" y="5791090"/>
            <a:ext cx="2476738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Output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682310" y="5432043"/>
            <a:ext cx="4923380" cy="3372520"/>
            <a:chOff x="0" y="0"/>
            <a:chExt cx="1296693" cy="8882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96693" cy="888236"/>
            </a:xfrm>
            <a:custGeom>
              <a:avLst/>
              <a:gdLst/>
              <a:ahLst/>
              <a:cxnLst/>
              <a:rect r="r" b="b" t="t" l="l"/>
              <a:pathLst>
                <a:path h="888236" w="1296693">
                  <a:moveTo>
                    <a:pt x="80197" y="0"/>
                  </a:moveTo>
                  <a:lnTo>
                    <a:pt x="1216496" y="0"/>
                  </a:lnTo>
                  <a:cubicBezTo>
                    <a:pt x="1260787" y="0"/>
                    <a:pt x="1296693" y="35905"/>
                    <a:pt x="1296693" y="80197"/>
                  </a:cubicBezTo>
                  <a:lnTo>
                    <a:pt x="1296693" y="808039"/>
                  </a:lnTo>
                  <a:cubicBezTo>
                    <a:pt x="1296693" y="829308"/>
                    <a:pt x="1288243" y="849707"/>
                    <a:pt x="1273204" y="864747"/>
                  </a:cubicBezTo>
                  <a:cubicBezTo>
                    <a:pt x="1258164" y="879786"/>
                    <a:pt x="1237766" y="888236"/>
                    <a:pt x="1216496" y="888236"/>
                  </a:cubicBezTo>
                  <a:lnTo>
                    <a:pt x="80197" y="888236"/>
                  </a:lnTo>
                  <a:cubicBezTo>
                    <a:pt x="35905" y="888236"/>
                    <a:pt x="0" y="852330"/>
                    <a:pt x="0" y="808039"/>
                  </a:cubicBezTo>
                  <a:lnTo>
                    <a:pt x="0" y="80197"/>
                  </a:lnTo>
                  <a:cubicBezTo>
                    <a:pt x="0" y="35905"/>
                    <a:pt x="35905" y="0"/>
                    <a:pt x="80197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296693" cy="88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900229" y="6804589"/>
            <a:ext cx="4484347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P(E) = Σ wᵢ·P(E|Mᵢ)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Bayesian weights assigned based on posterior model probability.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6901827" y="5737905"/>
            <a:ext cx="573644" cy="573644"/>
            <a:chOff x="0" y="0"/>
            <a:chExt cx="764858" cy="764858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764858" cy="764858"/>
              <a:chOff x="0" y="0"/>
              <a:chExt cx="812800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238506" y="-12042"/>
              <a:ext cx="287846" cy="722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6"/>
                </a:lnSpc>
              </a:pPr>
              <a:r>
                <a:rPr lang="en-US" sz="3226" b="true">
                  <a:solidFill>
                    <a:srgbClr val="7D191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7188649" y="5602023"/>
            <a:ext cx="4025444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Aggregate Ensemble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54105" y="5432043"/>
            <a:ext cx="4923380" cy="3372520"/>
            <a:chOff x="0" y="0"/>
            <a:chExt cx="1296693" cy="8882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96693" cy="888236"/>
            </a:xfrm>
            <a:custGeom>
              <a:avLst/>
              <a:gdLst/>
              <a:ahLst/>
              <a:cxnLst/>
              <a:rect r="r" b="b" t="t" l="l"/>
              <a:pathLst>
                <a:path h="888236" w="1296693">
                  <a:moveTo>
                    <a:pt x="80197" y="0"/>
                  </a:moveTo>
                  <a:lnTo>
                    <a:pt x="1216496" y="0"/>
                  </a:lnTo>
                  <a:cubicBezTo>
                    <a:pt x="1260787" y="0"/>
                    <a:pt x="1296693" y="35905"/>
                    <a:pt x="1296693" y="80197"/>
                  </a:cubicBezTo>
                  <a:lnTo>
                    <a:pt x="1296693" y="808039"/>
                  </a:lnTo>
                  <a:cubicBezTo>
                    <a:pt x="1296693" y="829308"/>
                    <a:pt x="1288243" y="849707"/>
                    <a:pt x="1273204" y="864747"/>
                  </a:cubicBezTo>
                  <a:cubicBezTo>
                    <a:pt x="1258164" y="879786"/>
                    <a:pt x="1237766" y="888236"/>
                    <a:pt x="1216496" y="888236"/>
                  </a:cubicBezTo>
                  <a:lnTo>
                    <a:pt x="80197" y="888236"/>
                  </a:lnTo>
                  <a:cubicBezTo>
                    <a:pt x="35905" y="888236"/>
                    <a:pt x="0" y="852330"/>
                    <a:pt x="0" y="808039"/>
                  </a:cubicBezTo>
                  <a:lnTo>
                    <a:pt x="0" y="80197"/>
                  </a:lnTo>
                  <a:cubicBezTo>
                    <a:pt x="0" y="35905"/>
                    <a:pt x="35905" y="0"/>
                    <a:pt x="80197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296693" cy="88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473622" y="6559199"/>
            <a:ext cx="4484347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P(θ|D) ∝ P(D|θ)·P(θ)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MCMC sampling generates posterior estimates of θ.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473622" y="5737905"/>
            <a:ext cx="573644" cy="573644"/>
            <a:chOff x="0" y="0"/>
            <a:chExt cx="764858" cy="764858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764858" cy="764858"/>
              <a:chOff x="0" y="0"/>
              <a:chExt cx="812800" cy="8128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77" id="77"/>
            <p:cNvSpPr txBox="true"/>
            <p:nvPr/>
          </p:nvSpPr>
          <p:spPr>
            <a:xfrm rot="0">
              <a:off x="238506" y="-12042"/>
              <a:ext cx="287846" cy="722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6"/>
                </a:lnSpc>
              </a:pPr>
              <a:r>
                <a:rPr lang="en-US" sz="3226" b="true">
                  <a:solidFill>
                    <a:srgbClr val="7D191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2212568" y="5731160"/>
            <a:ext cx="3556278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Bayesian Update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5656" y="369689"/>
            <a:ext cx="16002000" cy="2246703"/>
            <a:chOff x="0" y="0"/>
            <a:chExt cx="21336000" cy="29956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2995604"/>
            </a:xfrm>
            <a:custGeom>
              <a:avLst/>
              <a:gdLst/>
              <a:ahLst/>
              <a:cxnLst/>
              <a:rect r="r" b="b" t="t" l="l"/>
              <a:pathLst>
                <a:path h="299560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995604"/>
                  </a:lnTo>
                  <a:lnTo>
                    <a:pt x="0" y="299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567" r="1428" b="-132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336000" cy="29384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Operationalizing Probabilistic Reasoning in the Project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2654489"/>
            <a:ext cx="3570732" cy="3592816"/>
            <a:chOff x="0" y="0"/>
            <a:chExt cx="4760976" cy="4790421"/>
          </a:xfrm>
        </p:grpSpPr>
        <p:sp>
          <p:nvSpPr>
            <p:cNvPr name="AutoShape 20" id="20"/>
            <p:cNvSpPr/>
            <p:nvPr/>
          </p:nvSpPr>
          <p:spPr>
            <a:xfrm>
              <a:off x="329498" y="29445"/>
              <a:ext cx="3961000" cy="1"/>
            </a:xfrm>
            <a:prstGeom prst="line">
              <a:avLst/>
            </a:prstGeom>
            <a:ln cap="flat" w="58889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H="true">
              <a:off x="329498" y="29445"/>
              <a:ext cx="0" cy="4421299"/>
            </a:xfrm>
            <a:prstGeom prst="line">
              <a:avLst/>
            </a:prstGeom>
            <a:ln cap="flat" w="58889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V="true">
              <a:off x="565055" y="265001"/>
              <a:ext cx="3397588" cy="29445"/>
            </a:xfrm>
            <a:prstGeom prst="line">
              <a:avLst/>
            </a:prstGeom>
            <a:ln cap="flat" w="58889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565055" y="265001"/>
              <a:ext cx="0" cy="3820435"/>
            </a:xfrm>
            <a:prstGeom prst="line">
              <a:avLst/>
            </a:prstGeom>
            <a:ln cap="flat" w="58889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29445"/>
              <a:ext cx="4760976" cy="4760976"/>
            </a:xfrm>
            <a:custGeom>
              <a:avLst/>
              <a:gdLst/>
              <a:ahLst/>
              <a:cxnLst/>
              <a:rect r="r" b="b" t="t" l="l"/>
              <a:pathLst>
                <a:path h="4760976" w="4760976">
                  <a:moveTo>
                    <a:pt x="0" y="0"/>
                  </a:moveTo>
                  <a:lnTo>
                    <a:pt x="4760976" y="0"/>
                  </a:lnTo>
                  <a:lnTo>
                    <a:pt x="4760976" y="4760976"/>
                  </a:lnTo>
                  <a:lnTo>
                    <a:pt x="0" y="476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25" id="25"/>
            <p:cNvSpPr/>
            <p:nvPr/>
          </p:nvSpPr>
          <p:spPr>
            <a:xfrm flipH="true" flipV="true">
              <a:off x="385266" y="4421299"/>
              <a:ext cx="3961000" cy="1"/>
            </a:xfrm>
            <a:prstGeom prst="line">
              <a:avLst/>
            </a:prstGeom>
            <a:ln cap="flat" w="58889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V="true">
              <a:off x="4346266" y="0"/>
              <a:ext cx="0" cy="4421299"/>
            </a:xfrm>
            <a:prstGeom prst="line">
              <a:avLst/>
            </a:prstGeom>
            <a:ln cap="flat" w="58889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flipH="true">
              <a:off x="713121" y="4156299"/>
              <a:ext cx="3397588" cy="29445"/>
            </a:xfrm>
            <a:prstGeom prst="line">
              <a:avLst/>
            </a:prstGeom>
            <a:ln cap="flat" w="58889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 flipH="true" flipV="true">
              <a:off x="4110710" y="365308"/>
              <a:ext cx="0" cy="3820435"/>
            </a:xfrm>
            <a:prstGeom prst="line">
              <a:avLst/>
            </a:prstGeom>
            <a:ln cap="flat" w="58889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122570" y="2577825"/>
            <a:ext cx="3646925" cy="3669480"/>
            <a:chOff x="0" y="0"/>
            <a:chExt cx="4862567" cy="4892641"/>
          </a:xfrm>
        </p:grpSpPr>
        <p:sp>
          <p:nvSpPr>
            <p:cNvPr name="AutoShape 30" id="30"/>
            <p:cNvSpPr/>
            <p:nvPr/>
          </p:nvSpPr>
          <p:spPr>
            <a:xfrm>
              <a:off x="336529" y="30073"/>
              <a:ext cx="4045521" cy="1"/>
            </a:xfrm>
            <a:prstGeom prst="line">
              <a:avLst/>
            </a:prstGeom>
            <a:ln cap="flat" w="60146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 flipH="true">
              <a:off x="336529" y="30073"/>
              <a:ext cx="0" cy="4515643"/>
            </a:xfrm>
            <a:prstGeom prst="line">
              <a:avLst/>
            </a:prstGeom>
            <a:ln cap="flat" w="60146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 flipV="true">
              <a:off x="577112" y="270656"/>
              <a:ext cx="3470087" cy="30073"/>
            </a:xfrm>
            <a:prstGeom prst="line">
              <a:avLst/>
            </a:prstGeom>
            <a:ln cap="flat" w="60146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577112" y="270656"/>
              <a:ext cx="0" cy="3901957"/>
            </a:xfrm>
            <a:prstGeom prst="line">
              <a:avLst/>
            </a:prstGeom>
            <a:ln cap="flat" w="60146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30073"/>
              <a:ext cx="4862567" cy="4862567"/>
            </a:xfrm>
            <a:custGeom>
              <a:avLst/>
              <a:gdLst/>
              <a:ahLst/>
              <a:cxnLst/>
              <a:rect r="r" b="b" t="t" l="l"/>
              <a:pathLst>
                <a:path h="4862567" w="4862567">
                  <a:moveTo>
                    <a:pt x="0" y="0"/>
                  </a:moveTo>
                  <a:lnTo>
                    <a:pt x="4862567" y="0"/>
                  </a:lnTo>
                  <a:lnTo>
                    <a:pt x="4862567" y="4862568"/>
                  </a:lnTo>
                  <a:lnTo>
                    <a:pt x="0" y="4862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35" id="35"/>
            <p:cNvSpPr/>
            <p:nvPr/>
          </p:nvSpPr>
          <p:spPr>
            <a:xfrm flipH="true" flipV="true">
              <a:off x="393487" y="4515643"/>
              <a:ext cx="4045521" cy="1"/>
            </a:xfrm>
            <a:prstGeom prst="line">
              <a:avLst/>
            </a:prstGeom>
            <a:ln cap="flat" w="60146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 flipV="true">
              <a:off x="4439008" y="0"/>
              <a:ext cx="0" cy="4515643"/>
            </a:xfrm>
            <a:prstGeom prst="line">
              <a:avLst/>
            </a:prstGeom>
            <a:ln cap="flat" w="60146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 flipH="true">
              <a:off x="728338" y="4244987"/>
              <a:ext cx="3470087" cy="30073"/>
            </a:xfrm>
            <a:prstGeom prst="line">
              <a:avLst/>
            </a:prstGeom>
            <a:ln cap="flat" w="60146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 flipH="true" flipV="true">
              <a:off x="4198425" y="373103"/>
              <a:ext cx="0" cy="3901957"/>
            </a:xfrm>
            <a:prstGeom prst="line">
              <a:avLst/>
            </a:prstGeom>
            <a:ln cap="flat" w="60146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293371" y="2616392"/>
            <a:ext cx="3508202" cy="3529899"/>
            <a:chOff x="0" y="0"/>
            <a:chExt cx="4677602" cy="4706532"/>
          </a:xfrm>
        </p:grpSpPr>
        <p:sp>
          <p:nvSpPr>
            <p:cNvPr name="AutoShape 40" id="40"/>
            <p:cNvSpPr/>
            <p:nvPr/>
          </p:nvSpPr>
          <p:spPr>
            <a:xfrm>
              <a:off x="323728" y="28929"/>
              <a:ext cx="3891635" cy="1"/>
            </a:xfrm>
            <a:prstGeom prst="line">
              <a:avLst/>
            </a:prstGeom>
            <a:ln cap="flat" w="57858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 flipH="true">
              <a:off x="323728" y="28930"/>
              <a:ext cx="0" cy="4343874"/>
            </a:xfrm>
            <a:prstGeom prst="line">
              <a:avLst/>
            </a:prstGeom>
            <a:ln cap="flat" w="57858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 flipV="true">
              <a:off x="555159" y="260361"/>
              <a:ext cx="3338090" cy="28929"/>
            </a:xfrm>
            <a:prstGeom prst="line">
              <a:avLst/>
            </a:prstGeom>
            <a:ln cap="flat" w="57858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555159" y="260361"/>
              <a:ext cx="0" cy="3753532"/>
            </a:xfrm>
            <a:prstGeom prst="line">
              <a:avLst/>
            </a:prstGeom>
            <a:ln cap="flat" w="57858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28930"/>
              <a:ext cx="4677602" cy="4677602"/>
            </a:xfrm>
            <a:custGeom>
              <a:avLst/>
              <a:gdLst/>
              <a:ahLst/>
              <a:cxnLst/>
              <a:rect r="r" b="b" t="t" l="l"/>
              <a:pathLst>
                <a:path h="4677602" w="4677602">
                  <a:moveTo>
                    <a:pt x="0" y="0"/>
                  </a:moveTo>
                  <a:lnTo>
                    <a:pt x="4677602" y="0"/>
                  </a:lnTo>
                  <a:lnTo>
                    <a:pt x="4677602" y="4677602"/>
                  </a:lnTo>
                  <a:lnTo>
                    <a:pt x="0" y="4677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45" id="45"/>
            <p:cNvSpPr/>
            <p:nvPr/>
          </p:nvSpPr>
          <p:spPr>
            <a:xfrm flipH="true" flipV="true">
              <a:off x="378519" y="4343874"/>
              <a:ext cx="3891635" cy="1"/>
            </a:xfrm>
            <a:prstGeom prst="line">
              <a:avLst/>
            </a:prstGeom>
            <a:ln cap="flat" w="57858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V="true">
              <a:off x="4270154" y="0"/>
              <a:ext cx="0" cy="4343874"/>
            </a:xfrm>
            <a:prstGeom prst="line">
              <a:avLst/>
            </a:prstGeom>
            <a:ln cap="flat" w="57858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>
              <a:off x="700633" y="4083514"/>
              <a:ext cx="3338090" cy="28929"/>
            </a:xfrm>
            <a:prstGeom prst="line">
              <a:avLst/>
            </a:prstGeom>
            <a:ln cap="flat" w="57858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H="true" flipV="true">
              <a:off x="4038723" y="358911"/>
              <a:ext cx="0" cy="3753532"/>
            </a:xfrm>
            <a:prstGeom prst="line">
              <a:avLst/>
            </a:prstGeom>
            <a:ln cap="flat" w="57858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359103" y="2654489"/>
            <a:ext cx="3470339" cy="3491802"/>
            <a:chOff x="0" y="0"/>
            <a:chExt cx="4627118" cy="4655735"/>
          </a:xfrm>
        </p:grpSpPr>
        <p:sp>
          <p:nvSpPr>
            <p:cNvPr name="AutoShape 50" id="50"/>
            <p:cNvSpPr/>
            <p:nvPr/>
          </p:nvSpPr>
          <p:spPr>
            <a:xfrm>
              <a:off x="320234" y="28617"/>
              <a:ext cx="3849634" cy="1"/>
            </a:xfrm>
            <a:prstGeom prst="line">
              <a:avLst/>
            </a:prstGeom>
            <a:ln cap="flat" w="57233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flipH="true">
              <a:off x="320234" y="28617"/>
              <a:ext cx="0" cy="4296992"/>
            </a:xfrm>
            <a:prstGeom prst="line">
              <a:avLst/>
            </a:prstGeom>
            <a:ln cap="flat" w="57233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549168" y="257551"/>
              <a:ext cx="3302063" cy="28617"/>
            </a:xfrm>
            <a:prstGeom prst="line">
              <a:avLst/>
            </a:prstGeom>
            <a:ln cap="flat" w="57233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>
              <a:off x="549168" y="257551"/>
              <a:ext cx="0" cy="3713021"/>
            </a:xfrm>
            <a:prstGeom prst="line">
              <a:avLst/>
            </a:prstGeom>
            <a:ln cap="flat" w="57233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28617"/>
              <a:ext cx="4627118" cy="4627118"/>
            </a:xfrm>
            <a:custGeom>
              <a:avLst/>
              <a:gdLst/>
              <a:ahLst/>
              <a:cxnLst/>
              <a:rect r="r" b="b" t="t" l="l"/>
              <a:pathLst>
                <a:path h="4627118" w="4627118">
                  <a:moveTo>
                    <a:pt x="0" y="0"/>
                  </a:moveTo>
                  <a:lnTo>
                    <a:pt x="4627118" y="0"/>
                  </a:lnTo>
                  <a:lnTo>
                    <a:pt x="4627118" y="4627118"/>
                  </a:lnTo>
                  <a:lnTo>
                    <a:pt x="0" y="4627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55" id="55"/>
            <p:cNvSpPr/>
            <p:nvPr/>
          </p:nvSpPr>
          <p:spPr>
            <a:xfrm flipH="true" flipV="true">
              <a:off x="374434" y="4296992"/>
              <a:ext cx="3849634" cy="1"/>
            </a:xfrm>
            <a:prstGeom prst="line">
              <a:avLst/>
            </a:prstGeom>
            <a:ln cap="flat" w="57233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V="true">
              <a:off x="4224068" y="0"/>
              <a:ext cx="0" cy="4296992"/>
            </a:xfrm>
            <a:prstGeom prst="line">
              <a:avLst/>
            </a:prstGeom>
            <a:ln cap="flat" w="57233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H="true">
              <a:off x="693071" y="4039442"/>
              <a:ext cx="3302063" cy="28617"/>
            </a:xfrm>
            <a:prstGeom prst="line">
              <a:avLst/>
            </a:prstGeom>
            <a:ln cap="flat" w="57233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 flipH="true" flipV="true">
              <a:off x="3995134" y="355037"/>
              <a:ext cx="0" cy="3713021"/>
            </a:xfrm>
            <a:prstGeom prst="line">
              <a:avLst/>
            </a:prstGeom>
            <a:ln cap="flat" w="57233">
              <a:solidFill>
                <a:srgbClr val="7D1916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59" id="59"/>
          <p:cNvSpPr/>
          <p:nvPr/>
        </p:nvSpPr>
        <p:spPr>
          <a:xfrm>
            <a:off x="4595556" y="4146526"/>
            <a:ext cx="477141" cy="470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0" id="60"/>
          <p:cNvSpPr txBox="true"/>
          <p:nvPr/>
        </p:nvSpPr>
        <p:spPr>
          <a:xfrm rot="0">
            <a:off x="1697288" y="2990172"/>
            <a:ext cx="2158384" cy="2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Ensemble Samples</a:t>
            </a:r>
          </a:p>
        </p:txBody>
      </p:sp>
      <p:sp>
        <p:nvSpPr>
          <p:cNvPr name="AutoShape 61" id="61"/>
          <p:cNvSpPr/>
          <p:nvPr/>
        </p:nvSpPr>
        <p:spPr>
          <a:xfrm>
            <a:off x="8769515" y="4203905"/>
            <a:ext cx="477141" cy="470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2" id="62"/>
          <p:cNvSpPr/>
          <p:nvPr/>
        </p:nvSpPr>
        <p:spPr>
          <a:xfrm>
            <a:off x="12849216" y="4222955"/>
            <a:ext cx="477141" cy="470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3" id="63"/>
          <p:cNvSpPr txBox="true"/>
          <p:nvPr/>
        </p:nvSpPr>
        <p:spPr>
          <a:xfrm rot="0">
            <a:off x="5841914" y="2861487"/>
            <a:ext cx="2158384" cy="57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Fit Distribution and Plot PDF/CDF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968280" y="3011763"/>
            <a:ext cx="2158384" cy="57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Bayesian Posterior Update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015080" y="3011763"/>
            <a:ext cx="2158384" cy="57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MonteCarlo Estimation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672065" y="3752080"/>
            <a:ext cx="2498083" cy="136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Fit</a:t>
            </a: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Normal, Gamma, or GEV to ensemble outputs. Plot to observe tail behavior and validate threshold τ.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841914" y="5245058"/>
            <a:ext cx="2158384" cy="2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τ = F⁻¹(1 − α)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846750" y="3774441"/>
            <a:ext cx="2421883" cy="109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Update parameter beliefs using observed data via MCMC sampling.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968280" y="4971374"/>
            <a:ext cx="2158384" cy="57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P(θ | D) ∝ P(D | θ) · P(θ)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039822" y="4949783"/>
            <a:ext cx="2158384" cy="57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P(X&gt;τ|D) ≈ (1/n) Σ I(Xᵢ&gt;τ)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97288" y="5119012"/>
            <a:ext cx="2158384" cy="2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 i="true">
                <a:solidFill>
                  <a:srgbClr val="7D1916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X⁽¹⁾, X⁽²⁾, … , X⁽ᴹ⁾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35480" y="3593740"/>
            <a:ext cx="2498083" cy="136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Treat M ensemble forecast outputs as M random samples from the atmospheric distribution.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840879" y="3731852"/>
            <a:ext cx="2498083" cy="109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Approximate posterior predictive probability using samples drawn from P(θ | D).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45656" y="6352080"/>
            <a:ext cx="4215289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we evaluate?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99995" y="7784609"/>
            <a:ext cx="3722575" cy="81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Larger ensemble spread should correlate with larger forecast error — validates uncertainty estimates.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465198" y="7790355"/>
            <a:ext cx="3656345" cy="81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Predicted probabilities should match observed event frequencies — checked via reliability plots.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702742" y="7790355"/>
            <a:ext cx="4126700" cy="81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P(|p̂ − p| ≥ ε) ≤ 2exp(−2nε²) — statistical guarantee on empirical probability accuracy.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875179" y="7322359"/>
            <a:ext cx="2724253" cy="2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Spread-Skill Relationship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935811" y="7322359"/>
            <a:ext cx="2621689" cy="2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Probability Calibration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843616" y="7260716"/>
            <a:ext cx="2158384" cy="28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Hoeffding's Bound</a:t>
            </a:r>
          </a:p>
        </p:txBody>
      </p:sp>
      <p:sp>
        <p:nvSpPr>
          <p:cNvPr name="AutoShape 81" id="81"/>
          <p:cNvSpPr/>
          <p:nvPr/>
        </p:nvSpPr>
        <p:spPr>
          <a:xfrm>
            <a:off x="6090924" y="7415337"/>
            <a:ext cx="0" cy="1191627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12287682" y="7350934"/>
            <a:ext cx="0" cy="1191627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86000" y="-66675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Current Limitations and Conceptual Gaps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2910" y="1165970"/>
            <a:ext cx="8949480" cy="7272769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>
            <a:off x="9124950" y="1480485"/>
            <a:ext cx="0" cy="8229600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63874" y="1480485"/>
            <a:ext cx="8495526" cy="1086491"/>
            <a:chOff x="0" y="0"/>
            <a:chExt cx="1325929" cy="1695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25929" cy="169573"/>
            </a:xfrm>
            <a:custGeom>
              <a:avLst/>
              <a:gdLst/>
              <a:ahLst/>
              <a:cxnLst/>
              <a:rect r="r" b="b" t="t" l="l"/>
              <a:pathLst>
                <a:path h="169573" w="1325929">
                  <a:moveTo>
                    <a:pt x="42831" y="0"/>
                  </a:moveTo>
                  <a:lnTo>
                    <a:pt x="1283098" y="0"/>
                  </a:lnTo>
                  <a:cubicBezTo>
                    <a:pt x="1294457" y="0"/>
                    <a:pt x="1305352" y="4513"/>
                    <a:pt x="1313384" y="12545"/>
                  </a:cubicBezTo>
                  <a:cubicBezTo>
                    <a:pt x="1321416" y="20577"/>
                    <a:pt x="1325929" y="31471"/>
                    <a:pt x="1325929" y="42831"/>
                  </a:cubicBezTo>
                  <a:lnTo>
                    <a:pt x="1325929" y="126742"/>
                  </a:lnTo>
                  <a:cubicBezTo>
                    <a:pt x="1325929" y="138101"/>
                    <a:pt x="1321416" y="148996"/>
                    <a:pt x="1313384" y="157028"/>
                  </a:cubicBezTo>
                  <a:cubicBezTo>
                    <a:pt x="1305352" y="165060"/>
                    <a:pt x="1294457" y="169573"/>
                    <a:pt x="1283098" y="169573"/>
                  </a:cubicBezTo>
                  <a:lnTo>
                    <a:pt x="42831" y="169573"/>
                  </a:lnTo>
                  <a:cubicBezTo>
                    <a:pt x="31471" y="169573"/>
                    <a:pt x="20577" y="165060"/>
                    <a:pt x="12545" y="157028"/>
                  </a:cubicBezTo>
                  <a:cubicBezTo>
                    <a:pt x="4513" y="148996"/>
                    <a:pt x="0" y="138101"/>
                    <a:pt x="0" y="126742"/>
                  </a:cubicBezTo>
                  <a:lnTo>
                    <a:pt x="0" y="42831"/>
                  </a:lnTo>
                  <a:cubicBezTo>
                    <a:pt x="0" y="31471"/>
                    <a:pt x="4513" y="20577"/>
                    <a:pt x="12545" y="12545"/>
                  </a:cubicBezTo>
                  <a:cubicBezTo>
                    <a:pt x="20577" y="4513"/>
                    <a:pt x="31471" y="0"/>
                    <a:pt x="42831" y="0"/>
                  </a:cubicBezTo>
                  <a:close/>
                </a:path>
              </a:pathLst>
            </a:custGeom>
            <a:solidFill>
              <a:srgbClr val="7D1916">
                <a:alpha val="57647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325929" cy="169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63874" y="2681276"/>
            <a:ext cx="8495526" cy="1086491"/>
            <a:chOff x="0" y="0"/>
            <a:chExt cx="1325929" cy="1695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25929" cy="169573"/>
            </a:xfrm>
            <a:custGeom>
              <a:avLst/>
              <a:gdLst/>
              <a:ahLst/>
              <a:cxnLst/>
              <a:rect r="r" b="b" t="t" l="l"/>
              <a:pathLst>
                <a:path h="169573" w="1325929">
                  <a:moveTo>
                    <a:pt x="42831" y="0"/>
                  </a:moveTo>
                  <a:lnTo>
                    <a:pt x="1283098" y="0"/>
                  </a:lnTo>
                  <a:cubicBezTo>
                    <a:pt x="1294457" y="0"/>
                    <a:pt x="1305352" y="4513"/>
                    <a:pt x="1313384" y="12545"/>
                  </a:cubicBezTo>
                  <a:cubicBezTo>
                    <a:pt x="1321416" y="20577"/>
                    <a:pt x="1325929" y="31471"/>
                    <a:pt x="1325929" y="42831"/>
                  </a:cubicBezTo>
                  <a:lnTo>
                    <a:pt x="1325929" y="126742"/>
                  </a:lnTo>
                  <a:cubicBezTo>
                    <a:pt x="1325929" y="138101"/>
                    <a:pt x="1321416" y="148996"/>
                    <a:pt x="1313384" y="157028"/>
                  </a:cubicBezTo>
                  <a:cubicBezTo>
                    <a:pt x="1305352" y="165060"/>
                    <a:pt x="1294457" y="169573"/>
                    <a:pt x="1283098" y="169573"/>
                  </a:cubicBezTo>
                  <a:lnTo>
                    <a:pt x="42831" y="169573"/>
                  </a:lnTo>
                  <a:cubicBezTo>
                    <a:pt x="31471" y="169573"/>
                    <a:pt x="20577" y="165060"/>
                    <a:pt x="12545" y="157028"/>
                  </a:cubicBezTo>
                  <a:cubicBezTo>
                    <a:pt x="4513" y="148996"/>
                    <a:pt x="0" y="138101"/>
                    <a:pt x="0" y="126742"/>
                  </a:cubicBezTo>
                  <a:lnTo>
                    <a:pt x="0" y="42831"/>
                  </a:lnTo>
                  <a:cubicBezTo>
                    <a:pt x="0" y="31471"/>
                    <a:pt x="4513" y="20577"/>
                    <a:pt x="12545" y="12545"/>
                  </a:cubicBezTo>
                  <a:cubicBezTo>
                    <a:pt x="20577" y="4513"/>
                    <a:pt x="31471" y="0"/>
                    <a:pt x="42831" y="0"/>
                  </a:cubicBezTo>
                  <a:close/>
                </a:path>
              </a:pathLst>
            </a:custGeom>
            <a:solidFill>
              <a:srgbClr val="7D1916">
                <a:alpha val="57647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325929" cy="169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63874" y="3882067"/>
            <a:ext cx="8495526" cy="1086491"/>
            <a:chOff x="0" y="0"/>
            <a:chExt cx="1325929" cy="1695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5929" cy="169573"/>
            </a:xfrm>
            <a:custGeom>
              <a:avLst/>
              <a:gdLst/>
              <a:ahLst/>
              <a:cxnLst/>
              <a:rect r="r" b="b" t="t" l="l"/>
              <a:pathLst>
                <a:path h="169573" w="1325929">
                  <a:moveTo>
                    <a:pt x="42831" y="0"/>
                  </a:moveTo>
                  <a:lnTo>
                    <a:pt x="1283098" y="0"/>
                  </a:lnTo>
                  <a:cubicBezTo>
                    <a:pt x="1294457" y="0"/>
                    <a:pt x="1305352" y="4513"/>
                    <a:pt x="1313384" y="12545"/>
                  </a:cubicBezTo>
                  <a:cubicBezTo>
                    <a:pt x="1321416" y="20577"/>
                    <a:pt x="1325929" y="31471"/>
                    <a:pt x="1325929" y="42831"/>
                  </a:cubicBezTo>
                  <a:lnTo>
                    <a:pt x="1325929" y="126742"/>
                  </a:lnTo>
                  <a:cubicBezTo>
                    <a:pt x="1325929" y="138101"/>
                    <a:pt x="1321416" y="148996"/>
                    <a:pt x="1313384" y="157028"/>
                  </a:cubicBezTo>
                  <a:cubicBezTo>
                    <a:pt x="1305352" y="165060"/>
                    <a:pt x="1294457" y="169573"/>
                    <a:pt x="1283098" y="169573"/>
                  </a:cubicBezTo>
                  <a:lnTo>
                    <a:pt x="42831" y="169573"/>
                  </a:lnTo>
                  <a:cubicBezTo>
                    <a:pt x="31471" y="169573"/>
                    <a:pt x="20577" y="165060"/>
                    <a:pt x="12545" y="157028"/>
                  </a:cubicBezTo>
                  <a:cubicBezTo>
                    <a:pt x="4513" y="148996"/>
                    <a:pt x="0" y="138101"/>
                    <a:pt x="0" y="126742"/>
                  </a:cubicBezTo>
                  <a:lnTo>
                    <a:pt x="0" y="42831"/>
                  </a:lnTo>
                  <a:cubicBezTo>
                    <a:pt x="0" y="31471"/>
                    <a:pt x="4513" y="20577"/>
                    <a:pt x="12545" y="12545"/>
                  </a:cubicBezTo>
                  <a:cubicBezTo>
                    <a:pt x="20577" y="4513"/>
                    <a:pt x="31471" y="0"/>
                    <a:pt x="42831" y="0"/>
                  </a:cubicBezTo>
                  <a:close/>
                </a:path>
              </a:pathLst>
            </a:custGeom>
            <a:solidFill>
              <a:srgbClr val="7D1916">
                <a:alpha val="57647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325929" cy="169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63874" y="5082859"/>
            <a:ext cx="8495526" cy="1086491"/>
            <a:chOff x="0" y="0"/>
            <a:chExt cx="1325929" cy="1695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25929" cy="169573"/>
            </a:xfrm>
            <a:custGeom>
              <a:avLst/>
              <a:gdLst/>
              <a:ahLst/>
              <a:cxnLst/>
              <a:rect r="r" b="b" t="t" l="l"/>
              <a:pathLst>
                <a:path h="169573" w="1325929">
                  <a:moveTo>
                    <a:pt x="42831" y="0"/>
                  </a:moveTo>
                  <a:lnTo>
                    <a:pt x="1283098" y="0"/>
                  </a:lnTo>
                  <a:cubicBezTo>
                    <a:pt x="1294457" y="0"/>
                    <a:pt x="1305352" y="4513"/>
                    <a:pt x="1313384" y="12545"/>
                  </a:cubicBezTo>
                  <a:cubicBezTo>
                    <a:pt x="1321416" y="20577"/>
                    <a:pt x="1325929" y="31471"/>
                    <a:pt x="1325929" y="42831"/>
                  </a:cubicBezTo>
                  <a:lnTo>
                    <a:pt x="1325929" y="126742"/>
                  </a:lnTo>
                  <a:cubicBezTo>
                    <a:pt x="1325929" y="138101"/>
                    <a:pt x="1321416" y="148996"/>
                    <a:pt x="1313384" y="157028"/>
                  </a:cubicBezTo>
                  <a:cubicBezTo>
                    <a:pt x="1305352" y="165060"/>
                    <a:pt x="1294457" y="169573"/>
                    <a:pt x="1283098" y="169573"/>
                  </a:cubicBezTo>
                  <a:lnTo>
                    <a:pt x="42831" y="169573"/>
                  </a:lnTo>
                  <a:cubicBezTo>
                    <a:pt x="31471" y="169573"/>
                    <a:pt x="20577" y="165060"/>
                    <a:pt x="12545" y="157028"/>
                  </a:cubicBezTo>
                  <a:cubicBezTo>
                    <a:pt x="4513" y="148996"/>
                    <a:pt x="0" y="138101"/>
                    <a:pt x="0" y="126742"/>
                  </a:cubicBezTo>
                  <a:lnTo>
                    <a:pt x="0" y="42831"/>
                  </a:lnTo>
                  <a:cubicBezTo>
                    <a:pt x="0" y="31471"/>
                    <a:pt x="4513" y="20577"/>
                    <a:pt x="12545" y="12545"/>
                  </a:cubicBezTo>
                  <a:cubicBezTo>
                    <a:pt x="20577" y="4513"/>
                    <a:pt x="31471" y="0"/>
                    <a:pt x="42831" y="0"/>
                  </a:cubicBezTo>
                  <a:close/>
                </a:path>
              </a:pathLst>
            </a:custGeom>
            <a:solidFill>
              <a:srgbClr val="7D1916">
                <a:alpha val="57647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325929" cy="169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63874" y="6283650"/>
            <a:ext cx="8495526" cy="1086491"/>
            <a:chOff x="0" y="0"/>
            <a:chExt cx="1325929" cy="16957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25929" cy="169573"/>
            </a:xfrm>
            <a:custGeom>
              <a:avLst/>
              <a:gdLst/>
              <a:ahLst/>
              <a:cxnLst/>
              <a:rect r="r" b="b" t="t" l="l"/>
              <a:pathLst>
                <a:path h="169573" w="1325929">
                  <a:moveTo>
                    <a:pt x="42831" y="0"/>
                  </a:moveTo>
                  <a:lnTo>
                    <a:pt x="1283098" y="0"/>
                  </a:lnTo>
                  <a:cubicBezTo>
                    <a:pt x="1294457" y="0"/>
                    <a:pt x="1305352" y="4513"/>
                    <a:pt x="1313384" y="12545"/>
                  </a:cubicBezTo>
                  <a:cubicBezTo>
                    <a:pt x="1321416" y="20577"/>
                    <a:pt x="1325929" y="31471"/>
                    <a:pt x="1325929" y="42831"/>
                  </a:cubicBezTo>
                  <a:lnTo>
                    <a:pt x="1325929" y="126742"/>
                  </a:lnTo>
                  <a:cubicBezTo>
                    <a:pt x="1325929" y="138101"/>
                    <a:pt x="1321416" y="148996"/>
                    <a:pt x="1313384" y="157028"/>
                  </a:cubicBezTo>
                  <a:cubicBezTo>
                    <a:pt x="1305352" y="165060"/>
                    <a:pt x="1294457" y="169573"/>
                    <a:pt x="1283098" y="169573"/>
                  </a:cubicBezTo>
                  <a:lnTo>
                    <a:pt x="42831" y="169573"/>
                  </a:lnTo>
                  <a:cubicBezTo>
                    <a:pt x="31471" y="169573"/>
                    <a:pt x="20577" y="165060"/>
                    <a:pt x="12545" y="157028"/>
                  </a:cubicBezTo>
                  <a:cubicBezTo>
                    <a:pt x="4513" y="148996"/>
                    <a:pt x="0" y="138101"/>
                    <a:pt x="0" y="126742"/>
                  </a:cubicBezTo>
                  <a:lnTo>
                    <a:pt x="0" y="42831"/>
                  </a:lnTo>
                  <a:cubicBezTo>
                    <a:pt x="0" y="31471"/>
                    <a:pt x="4513" y="20577"/>
                    <a:pt x="12545" y="12545"/>
                  </a:cubicBezTo>
                  <a:cubicBezTo>
                    <a:pt x="20577" y="4513"/>
                    <a:pt x="31471" y="0"/>
                    <a:pt x="42831" y="0"/>
                  </a:cubicBezTo>
                  <a:close/>
                </a:path>
              </a:pathLst>
            </a:custGeom>
            <a:solidFill>
              <a:srgbClr val="7D1916">
                <a:alpha val="57647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325929" cy="169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63874" y="7484441"/>
            <a:ext cx="8495526" cy="1086491"/>
            <a:chOff x="0" y="0"/>
            <a:chExt cx="1325929" cy="16957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25929" cy="169573"/>
            </a:xfrm>
            <a:custGeom>
              <a:avLst/>
              <a:gdLst/>
              <a:ahLst/>
              <a:cxnLst/>
              <a:rect r="r" b="b" t="t" l="l"/>
              <a:pathLst>
                <a:path h="169573" w="1325929">
                  <a:moveTo>
                    <a:pt x="42831" y="0"/>
                  </a:moveTo>
                  <a:lnTo>
                    <a:pt x="1283098" y="0"/>
                  </a:lnTo>
                  <a:cubicBezTo>
                    <a:pt x="1294457" y="0"/>
                    <a:pt x="1305352" y="4513"/>
                    <a:pt x="1313384" y="12545"/>
                  </a:cubicBezTo>
                  <a:cubicBezTo>
                    <a:pt x="1321416" y="20577"/>
                    <a:pt x="1325929" y="31471"/>
                    <a:pt x="1325929" y="42831"/>
                  </a:cubicBezTo>
                  <a:lnTo>
                    <a:pt x="1325929" y="126742"/>
                  </a:lnTo>
                  <a:cubicBezTo>
                    <a:pt x="1325929" y="138101"/>
                    <a:pt x="1321416" y="148996"/>
                    <a:pt x="1313384" y="157028"/>
                  </a:cubicBezTo>
                  <a:cubicBezTo>
                    <a:pt x="1305352" y="165060"/>
                    <a:pt x="1294457" y="169573"/>
                    <a:pt x="1283098" y="169573"/>
                  </a:cubicBezTo>
                  <a:lnTo>
                    <a:pt x="42831" y="169573"/>
                  </a:lnTo>
                  <a:cubicBezTo>
                    <a:pt x="31471" y="169573"/>
                    <a:pt x="20577" y="165060"/>
                    <a:pt x="12545" y="157028"/>
                  </a:cubicBezTo>
                  <a:cubicBezTo>
                    <a:pt x="4513" y="148996"/>
                    <a:pt x="0" y="138101"/>
                    <a:pt x="0" y="126742"/>
                  </a:cubicBezTo>
                  <a:lnTo>
                    <a:pt x="0" y="42831"/>
                  </a:lnTo>
                  <a:cubicBezTo>
                    <a:pt x="0" y="31471"/>
                    <a:pt x="4513" y="20577"/>
                    <a:pt x="12545" y="12545"/>
                  </a:cubicBezTo>
                  <a:cubicBezTo>
                    <a:pt x="20577" y="4513"/>
                    <a:pt x="31471" y="0"/>
                    <a:pt x="42831" y="0"/>
                  </a:cubicBezTo>
                  <a:close/>
                </a:path>
              </a:pathLst>
            </a:custGeom>
            <a:solidFill>
              <a:srgbClr val="7D1916">
                <a:alpha val="57647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325929" cy="169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780080" y="1631111"/>
            <a:ext cx="785240" cy="78524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780080" y="2831902"/>
            <a:ext cx="785240" cy="785240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80080" y="4034467"/>
            <a:ext cx="785240" cy="785240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780080" y="5235259"/>
            <a:ext cx="785240" cy="785240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780080" y="6436050"/>
            <a:ext cx="785240" cy="785240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80080" y="7635067"/>
            <a:ext cx="785240" cy="785240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028701" y="1612475"/>
            <a:ext cx="287999" cy="74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4"/>
              </a:lnSpc>
            </a:pPr>
            <a:r>
              <a:rPr lang="en-US" b="true" sz="4303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020474" y="2811157"/>
            <a:ext cx="304453" cy="74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4"/>
              </a:lnSpc>
            </a:pPr>
            <a:r>
              <a:rPr lang="en-US" sz="4303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011261" y="4015417"/>
            <a:ext cx="322878" cy="74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4"/>
              </a:lnSpc>
            </a:pPr>
            <a:r>
              <a:rPr lang="en-US" sz="4303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002689" y="5216209"/>
            <a:ext cx="340022" cy="74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4"/>
              </a:lnSpc>
            </a:pPr>
            <a:r>
              <a:rPr lang="en-US" sz="4303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008305" y="6415305"/>
            <a:ext cx="328789" cy="74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4"/>
              </a:lnSpc>
            </a:pPr>
            <a:r>
              <a:rPr lang="en-US" sz="4303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995497" y="7608266"/>
            <a:ext cx="354407" cy="74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4"/>
              </a:lnSpc>
            </a:pPr>
            <a:r>
              <a:rPr lang="en-US" sz="4303" b="true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807145" y="1754504"/>
            <a:ext cx="3238463" cy="48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b="true" sz="280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Prior Specification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807145" y="2947976"/>
            <a:ext cx="4685120" cy="48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280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Independence Assumption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807145" y="4148767"/>
            <a:ext cx="3399979" cy="48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280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 Choice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807145" y="5392771"/>
            <a:ext cx="3528758" cy="48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280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MCMC Convergence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807145" y="6550350"/>
            <a:ext cx="2494392" cy="48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280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Ensemble Size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807145" y="7722566"/>
            <a:ext cx="1662338" cy="48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280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 Data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97526" y="310161"/>
            <a:ext cx="14641435" cy="1437078"/>
            <a:chOff x="0" y="0"/>
            <a:chExt cx="19521913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21912" cy="1916104"/>
            </a:xfrm>
            <a:custGeom>
              <a:avLst/>
              <a:gdLst/>
              <a:ahLst/>
              <a:cxnLst/>
              <a:rect r="r" b="b" t="t" l="l"/>
              <a:pathLst>
                <a:path h="1916104" w="19521912">
                  <a:moveTo>
                    <a:pt x="0" y="0"/>
                  </a:moveTo>
                  <a:lnTo>
                    <a:pt x="19521912" y="0"/>
                  </a:lnTo>
                  <a:lnTo>
                    <a:pt x="19521912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7731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19521913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Planned Refinements and Role Coordination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88924" y="1747239"/>
            <a:ext cx="7341776" cy="7511061"/>
            <a:chOff x="0" y="0"/>
            <a:chExt cx="1933636" cy="19782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3636" cy="1978222"/>
            </a:xfrm>
            <a:custGeom>
              <a:avLst/>
              <a:gdLst/>
              <a:ahLst/>
              <a:cxnLst/>
              <a:rect r="r" b="b" t="t" l="l"/>
              <a:pathLst>
                <a:path h="1978222" w="1933636">
                  <a:moveTo>
                    <a:pt x="53780" y="0"/>
                  </a:moveTo>
                  <a:lnTo>
                    <a:pt x="1879857" y="0"/>
                  </a:lnTo>
                  <a:cubicBezTo>
                    <a:pt x="1909558" y="0"/>
                    <a:pt x="1933636" y="24078"/>
                    <a:pt x="1933636" y="53780"/>
                  </a:cubicBezTo>
                  <a:lnTo>
                    <a:pt x="1933636" y="1924442"/>
                  </a:lnTo>
                  <a:cubicBezTo>
                    <a:pt x="1933636" y="1954144"/>
                    <a:pt x="1909558" y="1978222"/>
                    <a:pt x="1879857" y="1978222"/>
                  </a:cubicBezTo>
                  <a:lnTo>
                    <a:pt x="53780" y="1978222"/>
                  </a:lnTo>
                  <a:cubicBezTo>
                    <a:pt x="24078" y="1978222"/>
                    <a:pt x="0" y="1954144"/>
                    <a:pt x="0" y="1924442"/>
                  </a:cubicBezTo>
                  <a:lnTo>
                    <a:pt x="0" y="53780"/>
                  </a:lnTo>
                  <a:cubicBezTo>
                    <a:pt x="0" y="24078"/>
                    <a:pt x="24078" y="0"/>
                    <a:pt x="53780" y="0"/>
                  </a:cubicBezTo>
                  <a:close/>
                </a:path>
              </a:pathLst>
            </a:custGeom>
            <a:solidFill>
              <a:srgbClr val="7D1916">
                <a:alpha val="6000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33636" cy="1978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76468" y="1747239"/>
            <a:ext cx="7341776" cy="7511061"/>
            <a:chOff x="0" y="0"/>
            <a:chExt cx="1933636" cy="19782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33636" cy="1978222"/>
            </a:xfrm>
            <a:custGeom>
              <a:avLst/>
              <a:gdLst/>
              <a:ahLst/>
              <a:cxnLst/>
              <a:rect r="r" b="b" t="t" l="l"/>
              <a:pathLst>
                <a:path h="1978222" w="1933636">
                  <a:moveTo>
                    <a:pt x="53780" y="0"/>
                  </a:moveTo>
                  <a:lnTo>
                    <a:pt x="1879857" y="0"/>
                  </a:lnTo>
                  <a:cubicBezTo>
                    <a:pt x="1909558" y="0"/>
                    <a:pt x="1933636" y="24078"/>
                    <a:pt x="1933636" y="53780"/>
                  </a:cubicBezTo>
                  <a:lnTo>
                    <a:pt x="1933636" y="1924442"/>
                  </a:lnTo>
                  <a:cubicBezTo>
                    <a:pt x="1933636" y="1954144"/>
                    <a:pt x="1909558" y="1978222"/>
                    <a:pt x="1879857" y="1978222"/>
                  </a:cubicBezTo>
                  <a:lnTo>
                    <a:pt x="53780" y="1978222"/>
                  </a:lnTo>
                  <a:cubicBezTo>
                    <a:pt x="24078" y="1978222"/>
                    <a:pt x="0" y="1954144"/>
                    <a:pt x="0" y="1924442"/>
                  </a:cubicBezTo>
                  <a:lnTo>
                    <a:pt x="0" y="53780"/>
                  </a:lnTo>
                  <a:cubicBezTo>
                    <a:pt x="0" y="24078"/>
                    <a:pt x="24078" y="0"/>
                    <a:pt x="53780" y="0"/>
                  </a:cubicBezTo>
                  <a:close/>
                </a:path>
              </a:pathLst>
            </a:custGeom>
            <a:solidFill>
              <a:srgbClr val="7D1916">
                <a:alpha val="6000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933636" cy="1978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67927" y="2939132"/>
            <a:ext cx="6805636" cy="1812188"/>
            <a:chOff x="0" y="0"/>
            <a:chExt cx="1792431" cy="4772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92431" cy="477284"/>
            </a:xfrm>
            <a:custGeom>
              <a:avLst/>
              <a:gdLst/>
              <a:ahLst/>
              <a:cxnLst/>
              <a:rect r="r" b="b" t="t" l="l"/>
              <a:pathLst>
                <a:path h="477284" w="1792431">
                  <a:moveTo>
                    <a:pt x="58016" y="0"/>
                  </a:moveTo>
                  <a:lnTo>
                    <a:pt x="1734415" y="0"/>
                  </a:lnTo>
                  <a:cubicBezTo>
                    <a:pt x="1766456" y="0"/>
                    <a:pt x="1792431" y="25975"/>
                    <a:pt x="1792431" y="58016"/>
                  </a:cubicBezTo>
                  <a:lnTo>
                    <a:pt x="1792431" y="419268"/>
                  </a:lnTo>
                  <a:cubicBezTo>
                    <a:pt x="1792431" y="451309"/>
                    <a:pt x="1766456" y="477284"/>
                    <a:pt x="1734415" y="477284"/>
                  </a:cubicBezTo>
                  <a:lnTo>
                    <a:pt x="58016" y="477284"/>
                  </a:lnTo>
                  <a:cubicBezTo>
                    <a:pt x="25975" y="477284"/>
                    <a:pt x="0" y="451309"/>
                    <a:pt x="0" y="419268"/>
                  </a:cubicBezTo>
                  <a:lnTo>
                    <a:pt x="0" y="58016"/>
                  </a:lnTo>
                  <a:cubicBezTo>
                    <a:pt x="0" y="25975"/>
                    <a:pt x="25975" y="0"/>
                    <a:pt x="58016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792431" cy="477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97526" y="4265860"/>
            <a:ext cx="7467532" cy="430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Calibrate priors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 MCMC sampling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 PDF/CDF simulation plots</a:t>
            </a: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 spread-skill relationship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550712" y="2012032"/>
            <a:ext cx="746753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Milestone 3 Refinements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967927" y="5034826"/>
            <a:ext cx="6805636" cy="1812188"/>
            <a:chOff x="0" y="0"/>
            <a:chExt cx="1792431" cy="4772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92431" cy="477284"/>
            </a:xfrm>
            <a:custGeom>
              <a:avLst/>
              <a:gdLst/>
              <a:ahLst/>
              <a:cxnLst/>
              <a:rect r="r" b="b" t="t" l="l"/>
              <a:pathLst>
                <a:path h="477284" w="1792431">
                  <a:moveTo>
                    <a:pt x="58016" y="0"/>
                  </a:moveTo>
                  <a:lnTo>
                    <a:pt x="1734415" y="0"/>
                  </a:lnTo>
                  <a:cubicBezTo>
                    <a:pt x="1766456" y="0"/>
                    <a:pt x="1792431" y="25975"/>
                    <a:pt x="1792431" y="58016"/>
                  </a:cubicBezTo>
                  <a:lnTo>
                    <a:pt x="1792431" y="419268"/>
                  </a:lnTo>
                  <a:cubicBezTo>
                    <a:pt x="1792431" y="451309"/>
                    <a:pt x="1766456" y="477284"/>
                    <a:pt x="1734415" y="477284"/>
                  </a:cubicBezTo>
                  <a:lnTo>
                    <a:pt x="58016" y="477284"/>
                  </a:lnTo>
                  <a:cubicBezTo>
                    <a:pt x="25975" y="477284"/>
                    <a:pt x="0" y="451309"/>
                    <a:pt x="0" y="419268"/>
                  </a:cubicBezTo>
                  <a:lnTo>
                    <a:pt x="0" y="58016"/>
                  </a:lnTo>
                  <a:cubicBezTo>
                    <a:pt x="0" y="25975"/>
                    <a:pt x="25975" y="0"/>
                    <a:pt x="58016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792431" cy="477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967927" y="7132764"/>
            <a:ext cx="6805636" cy="1812188"/>
            <a:chOff x="0" y="0"/>
            <a:chExt cx="1792431" cy="4772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92431" cy="477284"/>
            </a:xfrm>
            <a:custGeom>
              <a:avLst/>
              <a:gdLst/>
              <a:ahLst/>
              <a:cxnLst/>
              <a:rect r="r" b="b" t="t" l="l"/>
              <a:pathLst>
                <a:path h="477284" w="1792431">
                  <a:moveTo>
                    <a:pt x="58016" y="0"/>
                  </a:moveTo>
                  <a:lnTo>
                    <a:pt x="1734415" y="0"/>
                  </a:lnTo>
                  <a:cubicBezTo>
                    <a:pt x="1766456" y="0"/>
                    <a:pt x="1792431" y="25975"/>
                    <a:pt x="1792431" y="58016"/>
                  </a:cubicBezTo>
                  <a:lnTo>
                    <a:pt x="1792431" y="419268"/>
                  </a:lnTo>
                  <a:cubicBezTo>
                    <a:pt x="1792431" y="451309"/>
                    <a:pt x="1766456" y="477284"/>
                    <a:pt x="1734415" y="477284"/>
                  </a:cubicBezTo>
                  <a:lnTo>
                    <a:pt x="58016" y="477284"/>
                  </a:lnTo>
                  <a:cubicBezTo>
                    <a:pt x="25975" y="477284"/>
                    <a:pt x="0" y="451309"/>
                    <a:pt x="0" y="419268"/>
                  </a:cubicBezTo>
                  <a:lnTo>
                    <a:pt x="0" y="58016"/>
                  </a:lnTo>
                  <a:cubicBezTo>
                    <a:pt x="0" y="25975"/>
                    <a:pt x="25975" y="0"/>
                    <a:pt x="58016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792431" cy="477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556146" y="1858998"/>
            <a:ext cx="578281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Role Coordination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733887" y="3435651"/>
            <a:ext cx="3427333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Github Manager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67511" y="5531345"/>
            <a:ext cx="1584603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Scribes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123348" y="7561389"/>
            <a:ext cx="2472928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Video Team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373161" y="310161"/>
            <a:ext cx="13541678" cy="1437078"/>
            <a:chOff x="0" y="0"/>
            <a:chExt cx="18055571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055571" cy="1916104"/>
            </a:xfrm>
            <a:custGeom>
              <a:avLst/>
              <a:gdLst/>
              <a:ahLst/>
              <a:cxnLst/>
              <a:rect r="r" b="b" t="t" l="l"/>
              <a:pathLst>
                <a:path h="1916104" w="18055571">
                  <a:moveTo>
                    <a:pt x="0" y="0"/>
                  </a:moveTo>
                  <a:lnTo>
                    <a:pt x="18055571" y="0"/>
                  </a:lnTo>
                  <a:lnTo>
                    <a:pt x="18055571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1648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18055571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Summary of Group-Level Understanding 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26790" y="4002263"/>
            <a:ext cx="4325945" cy="2824476"/>
            <a:chOff x="0" y="0"/>
            <a:chExt cx="5767927" cy="376596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767927" cy="3765968"/>
              <a:chOff x="0" y="0"/>
              <a:chExt cx="1139344" cy="74389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39344" cy="743895"/>
              </a:xfrm>
              <a:custGeom>
                <a:avLst/>
                <a:gdLst/>
                <a:ahLst/>
                <a:cxnLst/>
                <a:rect r="r" b="b" t="t" l="l"/>
                <a:pathLst>
                  <a:path h="743895" w="1139344">
                    <a:moveTo>
                      <a:pt x="91272" y="0"/>
                    </a:moveTo>
                    <a:lnTo>
                      <a:pt x="1048072" y="0"/>
                    </a:lnTo>
                    <a:cubicBezTo>
                      <a:pt x="1072278" y="0"/>
                      <a:pt x="1095494" y="9616"/>
                      <a:pt x="1112611" y="26733"/>
                    </a:cubicBezTo>
                    <a:cubicBezTo>
                      <a:pt x="1129727" y="43850"/>
                      <a:pt x="1139344" y="67065"/>
                      <a:pt x="1139344" y="91272"/>
                    </a:cubicBezTo>
                    <a:lnTo>
                      <a:pt x="1139344" y="652623"/>
                    </a:lnTo>
                    <a:cubicBezTo>
                      <a:pt x="1139344" y="703031"/>
                      <a:pt x="1098480" y="743895"/>
                      <a:pt x="1048072" y="743895"/>
                    </a:cubicBezTo>
                    <a:lnTo>
                      <a:pt x="91272" y="743895"/>
                    </a:lnTo>
                    <a:cubicBezTo>
                      <a:pt x="40864" y="743895"/>
                      <a:pt x="0" y="703031"/>
                      <a:pt x="0" y="652623"/>
                    </a:cubicBezTo>
                    <a:lnTo>
                      <a:pt x="0" y="91272"/>
                    </a:lnTo>
                    <a:cubicBezTo>
                      <a:pt x="0" y="40864"/>
                      <a:pt x="40864" y="0"/>
                      <a:pt x="91272" y="0"/>
                    </a:cubicBezTo>
                    <a:close/>
                  </a:path>
                </a:pathLst>
              </a:custGeom>
              <a:solidFill>
                <a:srgbClr val="7D191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0"/>
                <a:ext cx="1139344" cy="7438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76279" y="430528"/>
              <a:ext cx="4415369" cy="2847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40"/>
                </a:lnSpc>
              </a:pPr>
              <a:r>
                <a:rPr lang="en-US" b="true" sz="3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Bayesian Ensemble Probabilistic Model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62581" y="2670367"/>
            <a:ext cx="4145604" cy="1846255"/>
            <a:chOff x="0" y="0"/>
            <a:chExt cx="1091846" cy="4862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1846" cy="486256"/>
            </a:xfrm>
            <a:custGeom>
              <a:avLst/>
              <a:gdLst/>
              <a:ahLst/>
              <a:cxnLst/>
              <a:rect r="r" b="b" t="t" l="l"/>
              <a:pathLst>
                <a:path h="486256" w="1091846">
                  <a:moveTo>
                    <a:pt x="95243" y="0"/>
                  </a:moveTo>
                  <a:lnTo>
                    <a:pt x="996604" y="0"/>
                  </a:lnTo>
                  <a:cubicBezTo>
                    <a:pt x="1021864" y="0"/>
                    <a:pt x="1046089" y="10034"/>
                    <a:pt x="1063950" y="27896"/>
                  </a:cubicBezTo>
                  <a:cubicBezTo>
                    <a:pt x="1081812" y="45757"/>
                    <a:pt x="1091846" y="69983"/>
                    <a:pt x="1091846" y="95243"/>
                  </a:cubicBezTo>
                  <a:lnTo>
                    <a:pt x="1091846" y="391014"/>
                  </a:lnTo>
                  <a:cubicBezTo>
                    <a:pt x="1091846" y="443615"/>
                    <a:pt x="1049205" y="486256"/>
                    <a:pt x="996604" y="486256"/>
                  </a:cubicBezTo>
                  <a:lnTo>
                    <a:pt x="95243" y="486256"/>
                  </a:lnTo>
                  <a:cubicBezTo>
                    <a:pt x="69983" y="486256"/>
                    <a:pt x="45757" y="476222"/>
                    <a:pt x="27896" y="458360"/>
                  </a:cubicBezTo>
                  <a:cubicBezTo>
                    <a:pt x="10034" y="440499"/>
                    <a:pt x="0" y="416274"/>
                    <a:pt x="0" y="391014"/>
                  </a:cubicBezTo>
                  <a:lnTo>
                    <a:pt x="0" y="95243"/>
                  </a:lnTo>
                  <a:cubicBezTo>
                    <a:pt x="0" y="69983"/>
                    <a:pt x="10034" y="45757"/>
                    <a:pt x="27896" y="27896"/>
                  </a:cubicBezTo>
                  <a:cubicBezTo>
                    <a:pt x="45757" y="10034"/>
                    <a:pt x="69983" y="0"/>
                    <a:pt x="95243" y="0"/>
                  </a:cubicBezTo>
                  <a:close/>
                </a:path>
              </a:pathLst>
            </a:custGeom>
            <a:solidFill>
              <a:srgbClr val="7D1916">
                <a:alpha val="6000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091846" cy="486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223838" y="1747239"/>
            <a:ext cx="4145604" cy="1846255"/>
            <a:chOff x="0" y="0"/>
            <a:chExt cx="1091846" cy="4862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1846" cy="486256"/>
            </a:xfrm>
            <a:custGeom>
              <a:avLst/>
              <a:gdLst/>
              <a:ahLst/>
              <a:cxnLst/>
              <a:rect r="r" b="b" t="t" l="l"/>
              <a:pathLst>
                <a:path h="486256" w="1091846">
                  <a:moveTo>
                    <a:pt x="95243" y="0"/>
                  </a:moveTo>
                  <a:lnTo>
                    <a:pt x="996604" y="0"/>
                  </a:lnTo>
                  <a:cubicBezTo>
                    <a:pt x="1021864" y="0"/>
                    <a:pt x="1046089" y="10034"/>
                    <a:pt x="1063950" y="27896"/>
                  </a:cubicBezTo>
                  <a:cubicBezTo>
                    <a:pt x="1081812" y="45757"/>
                    <a:pt x="1091846" y="69983"/>
                    <a:pt x="1091846" y="95243"/>
                  </a:cubicBezTo>
                  <a:lnTo>
                    <a:pt x="1091846" y="391014"/>
                  </a:lnTo>
                  <a:cubicBezTo>
                    <a:pt x="1091846" y="443615"/>
                    <a:pt x="1049205" y="486256"/>
                    <a:pt x="996604" y="486256"/>
                  </a:cubicBezTo>
                  <a:lnTo>
                    <a:pt x="95243" y="486256"/>
                  </a:lnTo>
                  <a:cubicBezTo>
                    <a:pt x="69983" y="486256"/>
                    <a:pt x="45757" y="476222"/>
                    <a:pt x="27896" y="458360"/>
                  </a:cubicBezTo>
                  <a:cubicBezTo>
                    <a:pt x="10034" y="440499"/>
                    <a:pt x="0" y="416274"/>
                    <a:pt x="0" y="391014"/>
                  </a:cubicBezTo>
                  <a:lnTo>
                    <a:pt x="0" y="95243"/>
                  </a:lnTo>
                  <a:cubicBezTo>
                    <a:pt x="0" y="69983"/>
                    <a:pt x="10034" y="45757"/>
                    <a:pt x="27896" y="27896"/>
                  </a:cubicBezTo>
                  <a:cubicBezTo>
                    <a:pt x="45757" y="10034"/>
                    <a:pt x="69983" y="0"/>
                    <a:pt x="95243" y="0"/>
                  </a:cubicBezTo>
                  <a:close/>
                </a:path>
              </a:pathLst>
            </a:custGeom>
            <a:solidFill>
              <a:srgbClr val="7D1916">
                <a:alpha val="6000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091846" cy="486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223838" y="7235507"/>
            <a:ext cx="4145604" cy="1846255"/>
            <a:chOff x="0" y="0"/>
            <a:chExt cx="1091846" cy="4862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1846" cy="486256"/>
            </a:xfrm>
            <a:custGeom>
              <a:avLst/>
              <a:gdLst/>
              <a:ahLst/>
              <a:cxnLst/>
              <a:rect r="r" b="b" t="t" l="l"/>
              <a:pathLst>
                <a:path h="486256" w="1091846">
                  <a:moveTo>
                    <a:pt x="95243" y="0"/>
                  </a:moveTo>
                  <a:lnTo>
                    <a:pt x="996604" y="0"/>
                  </a:lnTo>
                  <a:cubicBezTo>
                    <a:pt x="1021864" y="0"/>
                    <a:pt x="1046089" y="10034"/>
                    <a:pt x="1063950" y="27896"/>
                  </a:cubicBezTo>
                  <a:cubicBezTo>
                    <a:pt x="1081812" y="45757"/>
                    <a:pt x="1091846" y="69983"/>
                    <a:pt x="1091846" y="95243"/>
                  </a:cubicBezTo>
                  <a:lnTo>
                    <a:pt x="1091846" y="391014"/>
                  </a:lnTo>
                  <a:cubicBezTo>
                    <a:pt x="1091846" y="443615"/>
                    <a:pt x="1049205" y="486256"/>
                    <a:pt x="996604" y="486256"/>
                  </a:cubicBezTo>
                  <a:lnTo>
                    <a:pt x="95243" y="486256"/>
                  </a:lnTo>
                  <a:cubicBezTo>
                    <a:pt x="69983" y="486256"/>
                    <a:pt x="45757" y="476222"/>
                    <a:pt x="27896" y="458360"/>
                  </a:cubicBezTo>
                  <a:cubicBezTo>
                    <a:pt x="10034" y="440499"/>
                    <a:pt x="0" y="416274"/>
                    <a:pt x="0" y="391014"/>
                  </a:cubicBezTo>
                  <a:lnTo>
                    <a:pt x="0" y="95243"/>
                  </a:lnTo>
                  <a:cubicBezTo>
                    <a:pt x="0" y="69983"/>
                    <a:pt x="10034" y="45757"/>
                    <a:pt x="27896" y="27896"/>
                  </a:cubicBezTo>
                  <a:cubicBezTo>
                    <a:pt x="45757" y="10034"/>
                    <a:pt x="69983" y="0"/>
                    <a:pt x="95243" y="0"/>
                  </a:cubicBezTo>
                  <a:close/>
                </a:path>
              </a:pathLst>
            </a:custGeom>
            <a:solidFill>
              <a:srgbClr val="7D1916">
                <a:alpha val="6000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091846" cy="486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62581" y="6312380"/>
            <a:ext cx="4145604" cy="1846255"/>
            <a:chOff x="0" y="0"/>
            <a:chExt cx="1091846" cy="4862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1846" cy="486256"/>
            </a:xfrm>
            <a:custGeom>
              <a:avLst/>
              <a:gdLst/>
              <a:ahLst/>
              <a:cxnLst/>
              <a:rect r="r" b="b" t="t" l="l"/>
              <a:pathLst>
                <a:path h="486256" w="1091846">
                  <a:moveTo>
                    <a:pt x="95243" y="0"/>
                  </a:moveTo>
                  <a:lnTo>
                    <a:pt x="996604" y="0"/>
                  </a:lnTo>
                  <a:cubicBezTo>
                    <a:pt x="1021864" y="0"/>
                    <a:pt x="1046089" y="10034"/>
                    <a:pt x="1063950" y="27896"/>
                  </a:cubicBezTo>
                  <a:cubicBezTo>
                    <a:pt x="1081812" y="45757"/>
                    <a:pt x="1091846" y="69983"/>
                    <a:pt x="1091846" y="95243"/>
                  </a:cubicBezTo>
                  <a:lnTo>
                    <a:pt x="1091846" y="391014"/>
                  </a:lnTo>
                  <a:cubicBezTo>
                    <a:pt x="1091846" y="443615"/>
                    <a:pt x="1049205" y="486256"/>
                    <a:pt x="996604" y="486256"/>
                  </a:cubicBezTo>
                  <a:lnTo>
                    <a:pt x="95243" y="486256"/>
                  </a:lnTo>
                  <a:cubicBezTo>
                    <a:pt x="69983" y="486256"/>
                    <a:pt x="45757" y="476222"/>
                    <a:pt x="27896" y="458360"/>
                  </a:cubicBezTo>
                  <a:cubicBezTo>
                    <a:pt x="10034" y="440499"/>
                    <a:pt x="0" y="416274"/>
                    <a:pt x="0" y="391014"/>
                  </a:cubicBezTo>
                  <a:lnTo>
                    <a:pt x="0" y="95243"/>
                  </a:lnTo>
                  <a:cubicBezTo>
                    <a:pt x="0" y="69983"/>
                    <a:pt x="10034" y="45757"/>
                    <a:pt x="27896" y="27896"/>
                  </a:cubicBezTo>
                  <a:cubicBezTo>
                    <a:pt x="45757" y="10034"/>
                    <a:pt x="69983" y="0"/>
                    <a:pt x="95243" y="0"/>
                  </a:cubicBezTo>
                  <a:close/>
                </a:path>
              </a:pathLst>
            </a:custGeom>
            <a:solidFill>
              <a:srgbClr val="7D1916">
                <a:alpha val="6000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1846" cy="486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949039" y="2855427"/>
            <a:ext cx="3346431" cy="143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b="true" sz="208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Ensemble spread - quantifies initial condition &amp; model uncertainty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16547" y="2295545"/>
            <a:ext cx="3346431" cy="71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08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P(X&gt;τ|D): risk-informed output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704755" y="2670367"/>
            <a:ext cx="4145604" cy="1846255"/>
            <a:chOff x="0" y="0"/>
            <a:chExt cx="5527472" cy="2461673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5527472" cy="2461673"/>
              <a:chOff x="0" y="0"/>
              <a:chExt cx="1091846" cy="48625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91846" cy="486256"/>
              </a:xfrm>
              <a:custGeom>
                <a:avLst/>
                <a:gdLst/>
                <a:ahLst/>
                <a:cxnLst/>
                <a:rect r="r" b="b" t="t" l="l"/>
                <a:pathLst>
                  <a:path h="486256" w="1091846">
                    <a:moveTo>
                      <a:pt x="95243" y="0"/>
                    </a:moveTo>
                    <a:lnTo>
                      <a:pt x="996604" y="0"/>
                    </a:lnTo>
                    <a:cubicBezTo>
                      <a:pt x="1021864" y="0"/>
                      <a:pt x="1046089" y="10034"/>
                      <a:pt x="1063950" y="27896"/>
                    </a:cubicBezTo>
                    <a:cubicBezTo>
                      <a:pt x="1081812" y="45757"/>
                      <a:pt x="1091846" y="69983"/>
                      <a:pt x="1091846" y="95243"/>
                    </a:cubicBezTo>
                    <a:lnTo>
                      <a:pt x="1091846" y="391014"/>
                    </a:lnTo>
                    <a:cubicBezTo>
                      <a:pt x="1091846" y="443615"/>
                      <a:pt x="1049205" y="486256"/>
                      <a:pt x="996604" y="486256"/>
                    </a:cubicBezTo>
                    <a:lnTo>
                      <a:pt x="95243" y="486256"/>
                    </a:lnTo>
                    <a:cubicBezTo>
                      <a:pt x="69983" y="486256"/>
                      <a:pt x="45757" y="476222"/>
                      <a:pt x="27896" y="458360"/>
                    </a:cubicBezTo>
                    <a:cubicBezTo>
                      <a:pt x="10034" y="440499"/>
                      <a:pt x="0" y="416274"/>
                      <a:pt x="0" y="391014"/>
                    </a:cubicBezTo>
                    <a:lnTo>
                      <a:pt x="0" y="95243"/>
                    </a:lnTo>
                    <a:cubicBezTo>
                      <a:pt x="0" y="69983"/>
                      <a:pt x="10034" y="45757"/>
                      <a:pt x="27896" y="27896"/>
                    </a:cubicBezTo>
                    <a:cubicBezTo>
                      <a:pt x="45757" y="10034"/>
                      <a:pt x="69983" y="0"/>
                      <a:pt x="95243" y="0"/>
                    </a:cubicBezTo>
                    <a:close/>
                  </a:path>
                </a:pathLst>
              </a:custGeom>
              <a:solidFill>
                <a:srgbClr val="7D1916">
                  <a:alpha val="60000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0"/>
                <a:ext cx="1091846" cy="4862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549552" y="501610"/>
              <a:ext cx="4461908" cy="1420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3"/>
                </a:lnSpc>
              </a:pPr>
              <a:r>
                <a:rPr lang="en-US" sz="208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Bayesian inference - updates probabilities with observed data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962168" y="6625907"/>
            <a:ext cx="3346431" cy="107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08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GEV / Gamma distributions - capture extreme tail behavior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623425" y="7778432"/>
            <a:ext cx="3346431" cy="71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08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Next: MCMC + PDF/CDF simulations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704755" y="6312380"/>
            <a:ext cx="4145604" cy="1846255"/>
            <a:chOff x="0" y="0"/>
            <a:chExt cx="5527472" cy="2461673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5527472" cy="2461673"/>
              <a:chOff x="0" y="0"/>
              <a:chExt cx="1091846" cy="486256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91846" cy="486256"/>
              </a:xfrm>
              <a:custGeom>
                <a:avLst/>
                <a:gdLst/>
                <a:ahLst/>
                <a:cxnLst/>
                <a:rect r="r" b="b" t="t" l="l"/>
                <a:pathLst>
                  <a:path h="486256" w="1091846">
                    <a:moveTo>
                      <a:pt x="95243" y="0"/>
                    </a:moveTo>
                    <a:lnTo>
                      <a:pt x="996604" y="0"/>
                    </a:lnTo>
                    <a:cubicBezTo>
                      <a:pt x="1021864" y="0"/>
                      <a:pt x="1046089" y="10034"/>
                      <a:pt x="1063950" y="27896"/>
                    </a:cubicBezTo>
                    <a:cubicBezTo>
                      <a:pt x="1081812" y="45757"/>
                      <a:pt x="1091846" y="69983"/>
                      <a:pt x="1091846" y="95243"/>
                    </a:cubicBezTo>
                    <a:lnTo>
                      <a:pt x="1091846" y="391014"/>
                    </a:lnTo>
                    <a:cubicBezTo>
                      <a:pt x="1091846" y="443615"/>
                      <a:pt x="1049205" y="486256"/>
                      <a:pt x="996604" y="486256"/>
                    </a:cubicBezTo>
                    <a:lnTo>
                      <a:pt x="95243" y="486256"/>
                    </a:lnTo>
                    <a:cubicBezTo>
                      <a:pt x="69983" y="486256"/>
                      <a:pt x="45757" y="476222"/>
                      <a:pt x="27896" y="458360"/>
                    </a:cubicBezTo>
                    <a:cubicBezTo>
                      <a:pt x="10034" y="440499"/>
                      <a:pt x="0" y="416274"/>
                      <a:pt x="0" y="391014"/>
                    </a:cubicBezTo>
                    <a:lnTo>
                      <a:pt x="0" y="95243"/>
                    </a:lnTo>
                    <a:cubicBezTo>
                      <a:pt x="0" y="69983"/>
                      <a:pt x="10034" y="45757"/>
                      <a:pt x="27896" y="27896"/>
                    </a:cubicBezTo>
                    <a:cubicBezTo>
                      <a:pt x="45757" y="10034"/>
                      <a:pt x="69983" y="0"/>
                      <a:pt x="95243" y="0"/>
                    </a:cubicBezTo>
                    <a:close/>
                  </a:path>
                </a:pathLst>
              </a:custGeom>
              <a:solidFill>
                <a:srgbClr val="7D1916">
                  <a:alpha val="60000"/>
                </a:srgbClr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0"/>
                <a:ext cx="1091846" cy="4862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532782" y="430736"/>
              <a:ext cx="4461908" cy="1420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23"/>
                </a:lnSpc>
              </a:pPr>
              <a:r>
                <a:rPr lang="en-US" sz="2088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Hoeffding bounds - statistical confidence on estimated P(X&gt;τ)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flipV="true">
            <a:off x="5708185" y="2745086"/>
            <a:ext cx="1469485" cy="848408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>
            <a:off x="11369443" y="2670367"/>
            <a:ext cx="1282652" cy="968213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>
            <a:off x="5708185" y="7235507"/>
            <a:ext cx="1579494" cy="1065131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 flipV="true">
            <a:off x="11369443" y="7382496"/>
            <a:ext cx="1402321" cy="776138"/>
          </a:xfrm>
          <a:prstGeom prst="line">
            <a:avLst/>
          </a:prstGeom>
          <a:ln cap="flat" w="38100">
            <a:solidFill>
              <a:srgbClr val="7D1916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1343841"/>
            <a:ext cx="15773400" cy="4279106"/>
            <a:chOff x="0" y="0"/>
            <a:chExt cx="21031200" cy="57054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5705473"/>
            </a:xfrm>
            <a:custGeom>
              <a:avLst/>
              <a:gdLst/>
              <a:ahLst/>
              <a:cxnLst/>
              <a:rect r="r" b="b" t="t" l="l"/>
              <a:pathLst>
                <a:path h="570547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705473"/>
                  </a:lnTo>
                  <a:lnTo>
                    <a:pt x="0" y="57054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824" r="0" b="-2182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564832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THANK YOU!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DAHBuy7uS40</dc:identifier>
  <dcterms:modified xsi:type="dcterms:W3CDTF">2011-08-01T06:04:30Z</dcterms:modified>
  <cp:revision>1</cp:revision>
  <dc:title>M2</dc:title>
</cp:coreProperties>
</file>